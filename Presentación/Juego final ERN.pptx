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Arcade Gamer" panose="020B0604020202020204" charset="0"/>
      <p:regular r:id="rId14"/>
    </p:embeddedFont>
    <p:embeddedFont>
      <p:font typeface="Retropix"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0" d="100"/>
          <a:sy n="60" d="100"/>
        </p:scale>
        <p:origin x="37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8.png"/><Relationship Id="rId4" Type="http://schemas.openxmlformats.org/officeDocument/2006/relationships/image" Target="../media/image12.gif"/></Relationships>
</file>

<file path=ppt/slides/_rels/slide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3.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0.svg"/><Relationship Id="rId7" Type="http://schemas.openxmlformats.org/officeDocument/2006/relationships/image" Target="../media/image16.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028700" y="3066335"/>
            <a:ext cx="1571900" cy="803098"/>
          </a:xfrm>
          <a:custGeom>
            <a:avLst/>
            <a:gdLst/>
            <a:ahLst/>
            <a:cxnLst/>
            <a:rect l="l" t="t" r="r" b="b"/>
            <a:pathLst>
              <a:path w="1571900" h="803098">
                <a:moveTo>
                  <a:pt x="0" y="0"/>
                </a:moveTo>
                <a:lnTo>
                  <a:pt x="1571900" y="0"/>
                </a:lnTo>
                <a:lnTo>
                  <a:pt x="1571900" y="803098"/>
                </a:lnTo>
                <a:lnTo>
                  <a:pt x="0" y="8030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sp>
        <p:nvSpPr>
          <p:cNvPr id="3" name="Freeform 3"/>
          <p:cNvSpPr/>
          <p:nvPr/>
        </p:nvSpPr>
        <p:spPr>
          <a:xfrm>
            <a:off x="15912122" y="1046205"/>
            <a:ext cx="1571900" cy="803098"/>
          </a:xfrm>
          <a:custGeom>
            <a:avLst/>
            <a:gdLst/>
            <a:ahLst/>
            <a:cxnLst/>
            <a:rect l="l" t="t" r="r" b="b"/>
            <a:pathLst>
              <a:path w="1571900" h="803098">
                <a:moveTo>
                  <a:pt x="0" y="0"/>
                </a:moveTo>
                <a:lnTo>
                  <a:pt x="1571900" y="0"/>
                </a:lnTo>
                <a:lnTo>
                  <a:pt x="1571900" y="803098"/>
                </a:lnTo>
                <a:lnTo>
                  <a:pt x="0" y="8030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sp>
        <p:nvSpPr>
          <p:cNvPr id="4" name="Freeform 4"/>
          <p:cNvSpPr/>
          <p:nvPr/>
        </p:nvSpPr>
        <p:spPr>
          <a:xfrm>
            <a:off x="7404792" y="1140668"/>
            <a:ext cx="691127" cy="613218"/>
          </a:xfrm>
          <a:custGeom>
            <a:avLst/>
            <a:gdLst/>
            <a:ahLst/>
            <a:cxnLst/>
            <a:rect l="l" t="t" r="r" b="b"/>
            <a:pathLst>
              <a:path w="691127" h="613218">
                <a:moveTo>
                  <a:pt x="0" y="0"/>
                </a:moveTo>
                <a:lnTo>
                  <a:pt x="691127" y="0"/>
                </a:lnTo>
                <a:lnTo>
                  <a:pt x="691127" y="613219"/>
                </a:lnTo>
                <a:lnTo>
                  <a:pt x="0" y="61321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MX"/>
          </a:p>
        </p:txBody>
      </p:sp>
      <p:sp>
        <p:nvSpPr>
          <p:cNvPr id="5" name="Freeform 5"/>
          <p:cNvSpPr/>
          <p:nvPr/>
        </p:nvSpPr>
        <p:spPr>
          <a:xfrm>
            <a:off x="8332287" y="1122571"/>
            <a:ext cx="691127" cy="613218"/>
          </a:xfrm>
          <a:custGeom>
            <a:avLst/>
            <a:gdLst/>
            <a:ahLst/>
            <a:cxnLst/>
            <a:rect l="l" t="t" r="r" b="b"/>
            <a:pathLst>
              <a:path w="691127" h="613218">
                <a:moveTo>
                  <a:pt x="0" y="0"/>
                </a:moveTo>
                <a:lnTo>
                  <a:pt x="691128" y="0"/>
                </a:lnTo>
                <a:lnTo>
                  <a:pt x="691128" y="613218"/>
                </a:lnTo>
                <a:lnTo>
                  <a:pt x="0" y="61321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MX"/>
          </a:p>
        </p:txBody>
      </p:sp>
      <p:sp>
        <p:nvSpPr>
          <p:cNvPr id="6" name="Freeform 6"/>
          <p:cNvSpPr/>
          <p:nvPr/>
        </p:nvSpPr>
        <p:spPr>
          <a:xfrm>
            <a:off x="9262184" y="1122571"/>
            <a:ext cx="691127" cy="613218"/>
          </a:xfrm>
          <a:custGeom>
            <a:avLst/>
            <a:gdLst/>
            <a:ahLst/>
            <a:cxnLst/>
            <a:rect l="l" t="t" r="r" b="b"/>
            <a:pathLst>
              <a:path w="691127" h="613218">
                <a:moveTo>
                  <a:pt x="0" y="0"/>
                </a:moveTo>
                <a:lnTo>
                  <a:pt x="691128" y="0"/>
                </a:lnTo>
                <a:lnTo>
                  <a:pt x="691128" y="613218"/>
                </a:lnTo>
                <a:lnTo>
                  <a:pt x="0" y="61321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MX"/>
          </a:p>
        </p:txBody>
      </p:sp>
      <p:sp>
        <p:nvSpPr>
          <p:cNvPr id="7" name="Freeform 7"/>
          <p:cNvSpPr/>
          <p:nvPr/>
        </p:nvSpPr>
        <p:spPr>
          <a:xfrm>
            <a:off x="10192081" y="1122571"/>
            <a:ext cx="691127" cy="613218"/>
          </a:xfrm>
          <a:custGeom>
            <a:avLst/>
            <a:gdLst/>
            <a:ahLst/>
            <a:cxnLst/>
            <a:rect l="l" t="t" r="r" b="b"/>
            <a:pathLst>
              <a:path w="691127" h="613218">
                <a:moveTo>
                  <a:pt x="0" y="0"/>
                </a:moveTo>
                <a:lnTo>
                  <a:pt x="691127" y="0"/>
                </a:lnTo>
                <a:lnTo>
                  <a:pt x="691127" y="613218"/>
                </a:lnTo>
                <a:lnTo>
                  <a:pt x="0" y="61321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s-MX"/>
          </a:p>
        </p:txBody>
      </p:sp>
      <p:sp>
        <p:nvSpPr>
          <p:cNvPr id="8" name="Freeform 8"/>
          <p:cNvSpPr/>
          <p:nvPr/>
        </p:nvSpPr>
        <p:spPr>
          <a:xfrm>
            <a:off x="15923764" y="7693199"/>
            <a:ext cx="1560258" cy="1407069"/>
          </a:xfrm>
          <a:custGeom>
            <a:avLst/>
            <a:gdLst/>
            <a:ahLst/>
            <a:cxnLst/>
            <a:rect l="l" t="t" r="r" b="b"/>
            <a:pathLst>
              <a:path w="1560258" h="1407069">
                <a:moveTo>
                  <a:pt x="0" y="0"/>
                </a:moveTo>
                <a:lnTo>
                  <a:pt x="1560258" y="0"/>
                </a:lnTo>
                <a:lnTo>
                  <a:pt x="1560258" y="1407070"/>
                </a:lnTo>
                <a:lnTo>
                  <a:pt x="0" y="1407070"/>
                </a:lnTo>
                <a:lnTo>
                  <a:pt x="0" y="0"/>
                </a:lnTo>
                <a:close/>
              </a:path>
            </a:pathLst>
          </a:custGeom>
          <a:blipFill>
            <a:blip r:embed="rId6"/>
            <a:stretch>
              <a:fillRect/>
            </a:stretch>
          </a:blipFill>
        </p:spPr>
        <p:txBody>
          <a:bodyPr/>
          <a:lstStyle/>
          <a:p>
            <a:endParaRPr lang="es-MX"/>
          </a:p>
        </p:txBody>
      </p:sp>
      <p:sp>
        <p:nvSpPr>
          <p:cNvPr id="9" name="Freeform 9"/>
          <p:cNvSpPr/>
          <p:nvPr/>
        </p:nvSpPr>
        <p:spPr>
          <a:xfrm>
            <a:off x="8401906" y="8013442"/>
            <a:ext cx="1650543" cy="705232"/>
          </a:xfrm>
          <a:custGeom>
            <a:avLst/>
            <a:gdLst/>
            <a:ahLst/>
            <a:cxnLst/>
            <a:rect l="l" t="t" r="r" b="b"/>
            <a:pathLst>
              <a:path w="1650543" h="705232">
                <a:moveTo>
                  <a:pt x="0" y="0"/>
                </a:moveTo>
                <a:lnTo>
                  <a:pt x="1650543" y="0"/>
                </a:lnTo>
                <a:lnTo>
                  <a:pt x="1650543" y="705232"/>
                </a:lnTo>
                <a:lnTo>
                  <a:pt x="0" y="705232"/>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s-MX"/>
          </a:p>
        </p:txBody>
      </p:sp>
      <p:sp>
        <p:nvSpPr>
          <p:cNvPr id="10" name="Freeform 10"/>
          <p:cNvSpPr/>
          <p:nvPr/>
        </p:nvSpPr>
        <p:spPr>
          <a:xfrm>
            <a:off x="2521732" y="7693199"/>
            <a:ext cx="1529423" cy="1407069"/>
          </a:xfrm>
          <a:custGeom>
            <a:avLst/>
            <a:gdLst/>
            <a:ahLst/>
            <a:cxnLst/>
            <a:rect l="l" t="t" r="r" b="b"/>
            <a:pathLst>
              <a:path w="1529423" h="1407069">
                <a:moveTo>
                  <a:pt x="0" y="0"/>
                </a:moveTo>
                <a:lnTo>
                  <a:pt x="1529424" y="0"/>
                </a:lnTo>
                <a:lnTo>
                  <a:pt x="1529424" y="1407070"/>
                </a:lnTo>
                <a:lnTo>
                  <a:pt x="0" y="1407070"/>
                </a:lnTo>
                <a:lnTo>
                  <a:pt x="0" y="0"/>
                </a:lnTo>
                <a:close/>
              </a:path>
            </a:pathLst>
          </a:custGeom>
          <a:blipFill>
            <a:blip r:embed="rId8"/>
            <a:stretch>
              <a:fillRect/>
            </a:stretch>
          </a:blipFill>
        </p:spPr>
        <p:txBody>
          <a:bodyPr/>
          <a:lstStyle/>
          <a:p>
            <a:endParaRPr lang="es-MX"/>
          </a:p>
        </p:txBody>
      </p:sp>
      <p:grpSp>
        <p:nvGrpSpPr>
          <p:cNvPr id="11" name="Group 11"/>
          <p:cNvGrpSpPr/>
          <p:nvPr/>
        </p:nvGrpSpPr>
        <p:grpSpPr>
          <a:xfrm>
            <a:off x="-140137" y="9100269"/>
            <a:ext cx="18725104" cy="1250234"/>
            <a:chOff x="0" y="0"/>
            <a:chExt cx="24966805" cy="1666979"/>
          </a:xfrm>
        </p:grpSpPr>
        <p:sp>
          <p:nvSpPr>
            <p:cNvPr id="12" name="Freeform 12"/>
            <p:cNvSpPr/>
            <p:nvPr/>
          </p:nvSpPr>
          <p:spPr>
            <a:xfrm>
              <a:off x="0"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9"/>
              <a:stretch>
                <a:fillRect/>
              </a:stretch>
            </a:blipFill>
          </p:spPr>
          <p:txBody>
            <a:bodyPr/>
            <a:lstStyle/>
            <a:p>
              <a:endParaRPr lang="es-MX"/>
            </a:p>
          </p:txBody>
        </p:sp>
        <p:sp>
          <p:nvSpPr>
            <p:cNvPr id="13" name="Freeform 13"/>
            <p:cNvSpPr/>
            <p:nvPr/>
          </p:nvSpPr>
          <p:spPr>
            <a:xfrm>
              <a:off x="8899491" y="0"/>
              <a:ext cx="6705601" cy="1666979"/>
            </a:xfrm>
            <a:custGeom>
              <a:avLst/>
              <a:gdLst/>
              <a:ahLst/>
              <a:cxnLst/>
              <a:rect l="l" t="t" r="r" b="b"/>
              <a:pathLst>
                <a:path w="6705601" h="1666979">
                  <a:moveTo>
                    <a:pt x="0" y="0"/>
                  </a:moveTo>
                  <a:lnTo>
                    <a:pt x="6705601" y="0"/>
                  </a:lnTo>
                  <a:lnTo>
                    <a:pt x="6705601" y="1666979"/>
                  </a:lnTo>
                  <a:lnTo>
                    <a:pt x="0" y="1666979"/>
                  </a:lnTo>
                  <a:lnTo>
                    <a:pt x="0" y="0"/>
                  </a:lnTo>
                  <a:close/>
                </a:path>
              </a:pathLst>
            </a:custGeom>
            <a:blipFill>
              <a:blip r:embed="rId9"/>
              <a:stretch>
                <a:fillRect r="-45454"/>
              </a:stretch>
            </a:blipFill>
          </p:spPr>
          <p:txBody>
            <a:bodyPr/>
            <a:lstStyle/>
            <a:p>
              <a:endParaRPr lang="es-MX"/>
            </a:p>
          </p:txBody>
        </p:sp>
        <p:sp>
          <p:nvSpPr>
            <p:cNvPr id="14" name="Freeform 14"/>
            <p:cNvSpPr/>
            <p:nvPr/>
          </p:nvSpPr>
          <p:spPr>
            <a:xfrm>
              <a:off x="15213205"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9"/>
              <a:stretch>
                <a:fillRect/>
              </a:stretch>
            </a:blipFill>
          </p:spPr>
          <p:txBody>
            <a:bodyPr/>
            <a:lstStyle/>
            <a:p>
              <a:endParaRPr lang="es-MX"/>
            </a:p>
          </p:txBody>
        </p:sp>
      </p:grpSp>
      <p:sp>
        <p:nvSpPr>
          <p:cNvPr id="15" name="TextBox 15"/>
          <p:cNvSpPr txBox="1"/>
          <p:nvPr/>
        </p:nvSpPr>
        <p:spPr>
          <a:xfrm>
            <a:off x="3517463" y="2300461"/>
            <a:ext cx="11253074" cy="2211021"/>
          </a:xfrm>
          <a:prstGeom prst="rect">
            <a:avLst/>
          </a:prstGeom>
        </p:spPr>
        <p:txBody>
          <a:bodyPr lIns="0" tIns="0" rIns="0" bIns="0" rtlCol="0" anchor="t">
            <a:spAutoFit/>
          </a:bodyPr>
          <a:lstStyle/>
          <a:p>
            <a:pPr algn="ctr">
              <a:lnSpc>
                <a:spcPts val="7923"/>
              </a:lnSpc>
            </a:pPr>
            <a:r>
              <a:rPr lang="en-US" sz="7923" i="1" spc="1251">
                <a:solidFill>
                  <a:srgbClr val="FFFFFF"/>
                </a:solidFill>
                <a:latin typeface="Retropix"/>
                <a:ea typeface="Retropix"/>
                <a:cs typeface="Retropix"/>
                <a:sym typeface="Retropix"/>
              </a:rPr>
              <a:t>ENDLESS NIGHTMARE RITUAL</a:t>
            </a:r>
          </a:p>
        </p:txBody>
      </p:sp>
      <p:sp>
        <p:nvSpPr>
          <p:cNvPr id="16" name="TextBox 16"/>
          <p:cNvSpPr txBox="1"/>
          <p:nvPr/>
        </p:nvSpPr>
        <p:spPr>
          <a:xfrm>
            <a:off x="9217652" y="5531267"/>
            <a:ext cx="9525" cy="887095"/>
          </a:xfrm>
          <a:prstGeom prst="rect">
            <a:avLst/>
          </a:prstGeom>
        </p:spPr>
        <p:txBody>
          <a:bodyPr lIns="0" tIns="0" rIns="0" bIns="0" rtlCol="0" anchor="t">
            <a:spAutoFit/>
          </a:bodyPr>
          <a:lstStyle/>
          <a:p>
            <a:pPr algn="ctr">
              <a:lnSpc>
                <a:spcPts val="7279"/>
              </a:lnSpc>
            </a:pPr>
            <a:endParaRPr/>
          </a:p>
        </p:txBody>
      </p:sp>
      <p:sp>
        <p:nvSpPr>
          <p:cNvPr id="17" name="TextBox 17"/>
          <p:cNvSpPr txBox="1"/>
          <p:nvPr/>
        </p:nvSpPr>
        <p:spPr>
          <a:xfrm>
            <a:off x="4051156" y="5051207"/>
            <a:ext cx="10185689" cy="1818640"/>
          </a:xfrm>
          <a:prstGeom prst="rect">
            <a:avLst/>
          </a:prstGeom>
        </p:spPr>
        <p:txBody>
          <a:bodyPr lIns="0" tIns="0" rIns="0" bIns="0" rtlCol="0" anchor="t">
            <a:spAutoFit/>
          </a:bodyPr>
          <a:lstStyle/>
          <a:p>
            <a:pPr algn="ctr">
              <a:lnSpc>
                <a:spcPts val="4759"/>
              </a:lnSpc>
            </a:pPr>
            <a:r>
              <a:rPr lang="en-US" sz="3399">
                <a:solidFill>
                  <a:srgbClr val="FFFFFF"/>
                </a:solidFill>
                <a:latin typeface="Arcade Gamer"/>
                <a:ea typeface="Arcade Gamer"/>
                <a:cs typeface="Arcade Gamer"/>
                <a:sym typeface="Arcade Gamer"/>
              </a:rPr>
              <a:t>Julian Berges NAVARRETE</a:t>
            </a:r>
          </a:p>
          <a:p>
            <a:pPr algn="ctr">
              <a:lnSpc>
                <a:spcPts val="4759"/>
              </a:lnSpc>
            </a:pPr>
            <a:r>
              <a:rPr lang="en-US" sz="3399">
                <a:solidFill>
                  <a:srgbClr val="FFFFFF"/>
                </a:solidFill>
                <a:latin typeface="Arcade Gamer"/>
                <a:ea typeface="Arcade Gamer"/>
                <a:cs typeface="Arcade Gamer"/>
                <a:sym typeface="Arcade Gamer"/>
              </a:rPr>
              <a:t>Aranzta Monique MERCADO MORENO</a:t>
            </a:r>
          </a:p>
          <a:p>
            <a:pPr algn="ctr">
              <a:lnSpc>
                <a:spcPts val="4759"/>
              </a:lnSpc>
            </a:pPr>
            <a:r>
              <a:rPr lang="en-US" sz="3399">
                <a:solidFill>
                  <a:srgbClr val="FFFFFF"/>
                </a:solidFill>
                <a:latin typeface="Arcade Gamer"/>
                <a:ea typeface="Arcade Gamer"/>
                <a:cs typeface="Arcade Gamer"/>
                <a:sym typeface="Arcade Gamer"/>
              </a:rPr>
              <a:t>Juan Carlos Luz GALLARDO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2279957" y="937555"/>
            <a:ext cx="593181" cy="593181"/>
          </a:xfrm>
          <a:custGeom>
            <a:avLst/>
            <a:gdLst/>
            <a:ahLst/>
            <a:cxnLst/>
            <a:rect l="l" t="t" r="r" b="b"/>
            <a:pathLst>
              <a:path w="593181" h="593181">
                <a:moveTo>
                  <a:pt x="0" y="0"/>
                </a:moveTo>
                <a:lnTo>
                  <a:pt x="593182" y="0"/>
                </a:lnTo>
                <a:lnTo>
                  <a:pt x="593182" y="593181"/>
                </a:lnTo>
                <a:lnTo>
                  <a:pt x="0" y="59318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sp>
        <p:nvSpPr>
          <p:cNvPr id="3" name="Freeform 3"/>
          <p:cNvSpPr/>
          <p:nvPr/>
        </p:nvSpPr>
        <p:spPr>
          <a:xfrm>
            <a:off x="5412890" y="937555"/>
            <a:ext cx="593181" cy="593181"/>
          </a:xfrm>
          <a:custGeom>
            <a:avLst/>
            <a:gdLst/>
            <a:ahLst/>
            <a:cxnLst/>
            <a:rect l="l" t="t" r="r" b="b"/>
            <a:pathLst>
              <a:path w="593181" h="593181">
                <a:moveTo>
                  <a:pt x="0" y="0"/>
                </a:moveTo>
                <a:lnTo>
                  <a:pt x="593181" y="0"/>
                </a:lnTo>
                <a:lnTo>
                  <a:pt x="593181" y="593181"/>
                </a:lnTo>
                <a:lnTo>
                  <a:pt x="0" y="59318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grpSp>
        <p:nvGrpSpPr>
          <p:cNvPr id="4" name="Group 4"/>
          <p:cNvGrpSpPr/>
          <p:nvPr/>
        </p:nvGrpSpPr>
        <p:grpSpPr>
          <a:xfrm>
            <a:off x="6208338" y="2325536"/>
            <a:ext cx="1387515" cy="1387515"/>
            <a:chOff x="0" y="0"/>
            <a:chExt cx="812800" cy="812800"/>
          </a:xfrm>
        </p:grpSpPr>
        <p:sp>
          <p:nvSpPr>
            <p:cNvPr id="5" name="Freeform 5"/>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ln w="38100" cap="sq">
              <a:solidFill>
                <a:srgbClr val="9E77F3"/>
              </a:solidFill>
              <a:prstDash val="solid"/>
              <a:miter/>
            </a:ln>
          </p:spPr>
          <p:txBody>
            <a:bodyPr/>
            <a:lstStyle/>
            <a:p>
              <a:endParaRPr lang="es-MX"/>
            </a:p>
          </p:txBody>
        </p:sp>
        <p:sp>
          <p:nvSpPr>
            <p:cNvPr id="6" name="TextBox 6"/>
            <p:cNvSpPr txBox="1"/>
            <p:nvPr/>
          </p:nvSpPr>
          <p:spPr>
            <a:xfrm>
              <a:off x="0" y="-114300"/>
              <a:ext cx="812800" cy="927100"/>
            </a:xfrm>
            <a:prstGeom prst="rect">
              <a:avLst/>
            </a:prstGeom>
          </p:spPr>
          <p:txBody>
            <a:bodyPr lIns="50800" tIns="50800" rIns="50800" bIns="50800" rtlCol="0" anchor="ctr"/>
            <a:lstStyle/>
            <a:p>
              <a:pPr algn="ctr">
                <a:lnSpc>
                  <a:spcPts val="5319"/>
                </a:lnSpc>
              </a:pPr>
              <a:r>
                <a:rPr lang="en-US" sz="3799">
                  <a:solidFill>
                    <a:srgbClr val="FF3131"/>
                  </a:solidFill>
                  <a:latin typeface="Arcade Gamer"/>
                  <a:ea typeface="Arcade Gamer"/>
                  <a:cs typeface="Arcade Gamer"/>
                  <a:sym typeface="Arcade Gamer"/>
                </a:rPr>
                <a:t>01</a:t>
              </a:r>
            </a:p>
          </p:txBody>
        </p:sp>
      </p:grpSp>
      <p:grpSp>
        <p:nvGrpSpPr>
          <p:cNvPr id="7" name="Group 7"/>
          <p:cNvGrpSpPr/>
          <p:nvPr/>
        </p:nvGrpSpPr>
        <p:grpSpPr>
          <a:xfrm>
            <a:off x="10225520" y="2325536"/>
            <a:ext cx="1387515" cy="1387515"/>
            <a:chOff x="0" y="0"/>
            <a:chExt cx="812800" cy="812800"/>
          </a:xfrm>
        </p:grpSpPr>
        <p:sp>
          <p:nvSpPr>
            <p:cNvPr id="8" name="Freeform 8"/>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ln w="38100" cap="sq">
              <a:solidFill>
                <a:srgbClr val="9E77F3"/>
              </a:solidFill>
              <a:prstDash val="solid"/>
              <a:miter/>
            </a:ln>
          </p:spPr>
          <p:txBody>
            <a:bodyPr/>
            <a:lstStyle/>
            <a:p>
              <a:endParaRPr lang="es-MX"/>
            </a:p>
          </p:txBody>
        </p:sp>
        <p:sp>
          <p:nvSpPr>
            <p:cNvPr id="9" name="TextBox 9"/>
            <p:cNvSpPr txBox="1"/>
            <p:nvPr/>
          </p:nvSpPr>
          <p:spPr>
            <a:xfrm>
              <a:off x="0" y="-114300"/>
              <a:ext cx="812800" cy="927100"/>
            </a:xfrm>
            <a:prstGeom prst="rect">
              <a:avLst/>
            </a:prstGeom>
          </p:spPr>
          <p:txBody>
            <a:bodyPr lIns="50800" tIns="50800" rIns="50800" bIns="50800" rtlCol="0" anchor="ctr"/>
            <a:lstStyle/>
            <a:p>
              <a:pPr algn="ctr">
                <a:lnSpc>
                  <a:spcPts val="5319"/>
                </a:lnSpc>
              </a:pPr>
              <a:r>
                <a:rPr lang="en-US" sz="3799">
                  <a:solidFill>
                    <a:srgbClr val="FF3131"/>
                  </a:solidFill>
                  <a:latin typeface="Arcade Gamer"/>
                  <a:ea typeface="Arcade Gamer"/>
                  <a:cs typeface="Arcade Gamer"/>
                  <a:sym typeface="Arcade Gamer"/>
                </a:rPr>
                <a:t>04</a:t>
              </a:r>
            </a:p>
          </p:txBody>
        </p:sp>
      </p:grpSp>
      <p:grpSp>
        <p:nvGrpSpPr>
          <p:cNvPr id="10" name="Group 10"/>
          <p:cNvGrpSpPr/>
          <p:nvPr/>
        </p:nvGrpSpPr>
        <p:grpSpPr>
          <a:xfrm>
            <a:off x="6208338" y="4776794"/>
            <a:ext cx="1387515" cy="1387515"/>
            <a:chOff x="0" y="0"/>
            <a:chExt cx="812800" cy="812800"/>
          </a:xfrm>
        </p:grpSpPr>
        <p:sp>
          <p:nvSpPr>
            <p:cNvPr id="11" name="Freeform 11"/>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ln w="38100" cap="sq">
              <a:solidFill>
                <a:srgbClr val="9E77F3"/>
              </a:solidFill>
              <a:prstDash val="solid"/>
              <a:miter/>
            </a:ln>
          </p:spPr>
          <p:txBody>
            <a:bodyPr/>
            <a:lstStyle/>
            <a:p>
              <a:endParaRPr lang="es-MX"/>
            </a:p>
          </p:txBody>
        </p:sp>
        <p:sp>
          <p:nvSpPr>
            <p:cNvPr id="12" name="TextBox 12"/>
            <p:cNvSpPr txBox="1"/>
            <p:nvPr/>
          </p:nvSpPr>
          <p:spPr>
            <a:xfrm>
              <a:off x="0" y="-114300"/>
              <a:ext cx="812800" cy="927100"/>
            </a:xfrm>
            <a:prstGeom prst="rect">
              <a:avLst/>
            </a:prstGeom>
          </p:spPr>
          <p:txBody>
            <a:bodyPr lIns="50800" tIns="50800" rIns="50800" bIns="50800" rtlCol="0" anchor="ctr"/>
            <a:lstStyle/>
            <a:p>
              <a:pPr algn="ctr">
                <a:lnSpc>
                  <a:spcPts val="5319"/>
                </a:lnSpc>
              </a:pPr>
              <a:r>
                <a:rPr lang="en-US" sz="3799">
                  <a:solidFill>
                    <a:srgbClr val="FF3131"/>
                  </a:solidFill>
                  <a:latin typeface="Arcade Gamer"/>
                  <a:ea typeface="Arcade Gamer"/>
                  <a:cs typeface="Arcade Gamer"/>
                  <a:sym typeface="Arcade Gamer"/>
                </a:rPr>
                <a:t>02</a:t>
              </a:r>
            </a:p>
          </p:txBody>
        </p:sp>
      </p:grpSp>
      <p:grpSp>
        <p:nvGrpSpPr>
          <p:cNvPr id="13" name="Group 13"/>
          <p:cNvGrpSpPr/>
          <p:nvPr/>
        </p:nvGrpSpPr>
        <p:grpSpPr>
          <a:xfrm>
            <a:off x="10225520" y="4776794"/>
            <a:ext cx="1387515" cy="1387515"/>
            <a:chOff x="0" y="0"/>
            <a:chExt cx="812800" cy="812800"/>
          </a:xfrm>
        </p:grpSpPr>
        <p:sp>
          <p:nvSpPr>
            <p:cNvPr id="14" name="Freeform 14"/>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ln w="38100" cap="sq">
              <a:solidFill>
                <a:srgbClr val="9E77F3"/>
              </a:solidFill>
              <a:prstDash val="solid"/>
              <a:miter/>
            </a:ln>
          </p:spPr>
          <p:txBody>
            <a:bodyPr/>
            <a:lstStyle/>
            <a:p>
              <a:endParaRPr lang="es-MX"/>
            </a:p>
          </p:txBody>
        </p:sp>
        <p:sp>
          <p:nvSpPr>
            <p:cNvPr id="15" name="TextBox 15"/>
            <p:cNvSpPr txBox="1"/>
            <p:nvPr/>
          </p:nvSpPr>
          <p:spPr>
            <a:xfrm>
              <a:off x="0" y="-114300"/>
              <a:ext cx="812800" cy="927100"/>
            </a:xfrm>
            <a:prstGeom prst="rect">
              <a:avLst/>
            </a:prstGeom>
          </p:spPr>
          <p:txBody>
            <a:bodyPr lIns="50800" tIns="50800" rIns="50800" bIns="50800" rtlCol="0" anchor="ctr"/>
            <a:lstStyle/>
            <a:p>
              <a:pPr algn="ctr">
                <a:lnSpc>
                  <a:spcPts val="5319"/>
                </a:lnSpc>
              </a:pPr>
              <a:r>
                <a:rPr lang="en-US" sz="3799">
                  <a:solidFill>
                    <a:srgbClr val="FF3131"/>
                  </a:solidFill>
                  <a:latin typeface="Arcade Gamer"/>
                  <a:ea typeface="Arcade Gamer"/>
                  <a:cs typeface="Arcade Gamer"/>
                  <a:sym typeface="Arcade Gamer"/>
                </a:rPr>
                <a:t>05</a:t>
              </a:r>
            </a:p>
          </p:txBody>
        </p:sp>
      </p:grpSp>
      <p:grpSp>
        <p:nvGrpSpPr>
          <p:cNvPr id="16" name="Group 16"/>
          <p:cNvGrpSpPr/>
          <p:nvPr/>
        </p:nvGrpSpPr>
        <p:grpSpPr>
          <a:xfrm>
            <a:off x="6208338" y="6963178"/>
            <a:ext cx="1387515" cy="1387515"/>
            <a:chOff x="0" y="0"/>
            <a:chExt cx="812800" cy="812800"/>
          </a:xfrm>
        </p:grpSpPr>
        <p:sp>
          <p:nvSpPr>
            <p:cNvPr id="17" name="Freeform 17"/>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ln w="38100" cap="sq">
              <a:solidFill>
                <a:srgbClr val="9E77F3"/>
              </a:solidFill>
              <a:prstDash val="solid"/>
              <a:miter/>
            </a:ln>
          </p:spPr>
          <p:txBody>
            <a:bodyPr/>
            <a:lstStyle/>
            <a:p>
              <a:endParaRPr lang="es-MX"/>
            </a:p>
          </p:txBody>
        </p:sp>
        <p:sp>
          <p:nvSpPr>
            <p:cNvPr id="18" name="TextBox 18"/>
            <p:cNvSpPr txBox="1"/>
            <p:nvPr/>
          </p:nvSpPr>
          <p:spPr>
            <a:xfrm>
              <a:off x="0" y="-114300"/>
              <a:ext cx="812800" cy="927100"/>
            </a:xfrm>
            <a:prstGeom prst="rect">
              <a:avLst/>
            </a:prstGeom>
          </p:spPr>
          <p:txBody>
            <a:bodyPr lIns="50800" tIns="50800" rIns="50800" bIns="50800" rtlCol="0" anchor="ctr"/>
            <a:lstStyle/>
            <a:p>
              <a:pPr algn="ctr">
                <a:lnSpc>
                  <a:spcPts val="5319"/>
                </a:lnSpc>
              </a:pPr>
              <a:r>
                <a:rPr lang="en-US" sz="3799">
                  <a:solidFill>
                    <a:srgbClr val="FF3131"/>
                  </a:solidFill>
                  <a:latin typeface="Arcade Gamer"/>
                  <a:ea typeface="Arcade Gamer"/>
                  <a:cs typeface="Arcade Gamer"/>
                  <a:sym typeface="Arcade Gamer"/>
                </a:rPr>
                <a:t>03</a:t>
              </a:r>
            </a:p>
          </p:txBody>
        </p:sp>
      </p:grpSp>
      <p:grpSp>
        <p:nvGrpSpPr>
          <p:cNvPr id="19" name="Group 19"/>
          <p:cNvGrpSpPr/>
          <p:nvPr/>
        </p:nvGrpSpPr>
        <p:grpSpPr>
          <a:xfrm>
            <a:off x="10215995" y="7225840"/>
            <a:ext cx="1387515" cy="1387515"/>
            <a:chOff x="0" y="0"/>
            <a:chExt cx="812800" cy="812800"/>
          </a:xfrm>
        </p:grpSpPr>
        <p:sp>
          <p:nvSpPr>
            <p:cNvPr id="20" name="Freeform 20"/>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ln w="38100" cap="sq">
              <a:solidFill>
                <a:srgbClr val="9E77F3"/>
              </a:solidFill>
              <a:prstDash val="solid"/>
              <a:miter/>
            </a:ln>
          </p:spPr>
          <p:txBody>
            <a:bodyPr/>
            <a:lstStyle/>
            <a:p>
              <a:endParaRPr lang="es-MX"/>
            </a:p>
          </p:txBody>
        </p:sp>
        <p:sp>
          <p:nvSpPr>
            <p:cNvPr id="21" name="TextBox 21"/>
            <p:cNvSpPr txBox="1"/>
            <p:nvPr/>
          </p:nvSpPr>
          <p:spPr>
            <a:xfrm>
              <a:off x="0" y="-114300"/>
              <a:ext cx="812800" cy="927100"/>
            </a:xfrm>
            <a:prstGeom prst="rect">
              <a:avLst/>
            </a:prstGeom>
          </p:spPr>
          <p:txBody>
            <a:bodyPr lIns="50800" tIns="50800" rIns="50800" bIns="50800" rtlCol="0" anchor="ctr"/>
            <a:lstStyle/>
            <a:p>
              <a:pPr algn="ctr">
                <a:lnSpc>
                  <a:spcPts val="5319"/>
                </a:lnSpc>
              </a:pPr>
              <a:r>
                <a:rPr lang="en-US" sz="3799">
                  <a:solidFill>
                    <a:srgbClr val="FF3131"/>
                  </a:solidFill>
                  <a:latin typeface="Arcade Gamer"/>
                  <a:ea typeface="Arcade Gamer"/>
                  <a:cs typeface="Arcade Gamer"/>
                  <a:sym typeface="Arcade Gamer"/>
                </a:rPr>
                <a:t>06</a:t>
              </a:r>
            </a:p>
          </p:txBody>
        </p:sp>
      </p:grpSp>
      <p:sp>
        <p:nvSpPr>
          <p:cNvPr id="22" name="TextBox 22"/>
          <p:cNvSpPr txBox="1"/>
          <p:nvPr/>
        </p:nvSpPr>
        <p:spPr>
          <a:xfrm>
            <a:off x="6560493" y="703535"/>
            <a:ext cx="5167015" cy="918346"/>
          </a:xfrm>
          <a:prstGeom prst="rect">
            <a:avLst/>
          </a:prstGeom>
        </p:spPr>
        <p:txBody>
          <a:bodyPr lIns="0" tIns="0" rIns="0" bIns="0" rtlCol="0" anchor="t">
            <a:spAutoFit/>
          </a:bodyPr>
          <a:lstStyle/>
          <a:p>
            <a:pPr algn="ctr">
              <a:lnSpc>
                <a:spcPts val="7132"/>
              </a:lnSpc>
              <a:spcBef>
                <a:spcPct val="0"/>
              </a:spcBef>
            </a:pPr>
            <a:r>
              <a:rPr lang="en-US" sz="5094">
                <a:solidFill>
                  <a:srgbClr val="FF3131"/>
                </a:solidFill>
                <a:latin typeface="Arcade Gamer"/>
                <a:ea typeface="Arcade Gamer"/>
                <a:cs typeface="Arcade Gamer"/>
                <a:sym typeface="Arcade Gamer"/>
              </a:rPr>
              <a:t>CONTENIDO</a:t>
            </a:r>
          </a:p>
        </p:txBody>
      </p:sp>
      <p:sp>
        <p:nvSpPr>
          <p:cNvPr id="23" name="TextBox 23"/>
          <p:cNvSpPr txBox="1"/>
          <p:nvPr/>
        </p:nvSpPr>
        <p:spPr>
          <a:xfrm>
            <a:off x="1784126" y="2728216"/>
            <a:ext cx="4005112" cy="756126"/>
          </a:xfrm>
          <a:prstGeom prst="rect">
            <a:avLst/>
          </a:prstGeom>
        </p:spPr>
        <p:txBody>
          <a:bodyPr lIns="0" tIns="0" rIns="0" bIns="0" rtlCol="0" anchor="t">
            <a:spAutoFit/>
          </a:bodyPr>
          <a:lstStyle/>
          <a:p>
            <a:pPr algn="r">
              <a:lnSpc>
                <a:spcPts val="2948"/>
              </a:lnSpc>
            </a:pPr>
            <a:r>
              <a:rPr lang="en-US" sz="2106">
                <a:solidFill>
                  <a:srgbClr val="FFFFFF"/>
                </a:solidFill>
                <a:latin typeface="Arcade Gamer"/>
                <a:ea typeface="Arcade Gamer"/>
                <a:cs typeface="Arcade Gamer"/>
                <a:sym typeface="Arcade Gamer"/>
              </a:rPr>
              <a:t>ELEVATOR PITCH</a:t>
            </a:r>
          </a:p>
          <a:p>
            <a:pPr algn="r">
              <a:lnSpc>
                <a:spcPts val="2948"/>
              </a:lnSpc>
              <a:spcBef>
                <a:spcPct val="0"/>
              </a:spcBef>
            </a:pPr>
            <a:endParaRPr lang="en-US" sz="2106">
              <a:solidFill>
                <a:srgbClr val="FFFFFF"/>
              </a:solidFill>
              <a:latin typeface="Arcade Gamer"/>
              <a:ea typeface="Arcade Gamer"/>
              <a:cs typeface="Arcade Gamer"/>
              <a:sym typeface="Arcade Gamer"/>
            </a:endParaRPr>
          </a:p>
        </p:txBody>
      </p:sp>
      <p:sp>
        <p:nvSpPr>
          <p:cNvPr id="24" name="TextBox 24"/>
          <p:cNvSpPr txBox="1"/>
          <p:nvPr/>
        </p:nvSpPr>
        <p:spPr>
          <a:xfrm>
            <a:off x="2276897" y="4944533"/>
            <a:ext cx="3512341" cy="1127601"/>
          </a:xfrm>
          <a:prstGeom prst="rect">
            <a:avLst/>
          </a:prstGeom>
        </p:spPr>
        <p:txBody>
          <a:bodyPr lIns="0" tIns="0" rIns="0" bIns="0" rtlCol="0" anchor="t">
            <a:spAutoFit/>
          </a:bodyPr>
          <a:lstStyle/>
          <a:p>
            <a:pPr algn="r">
              <a:lnSpc>
                <a:spcPts val="2948"/>
              </a:lnSpc>
            </a:pPr>
            <a:r>
              <a:rPr lang="en-US" sz="2106">
                <a:solidFill>
                  <a:srgbClr val="FFFFFF"/>
                </a:solidFill>
                <a:latin typeface="Arcade Gamer"/>
                <a:ea typeface="Arcade Gamer"/>
                <a:cs typeface="Arcade Gamer"/>
                <a:sym typeface="Arcade Gamer"/>
              </a:rPr>
              <a:t>DESCRIPCIÓN BÁSICA DEL JUEGO</a:t>
            </a:r>
          </a:p>
          <a:p>
            <a:pPr algn="r">
              <a:lnSpc>
                <a:spcPts val="2948"/>
              </a:lnSpc>
              <a:spcBef>
                <a:spcPct val="0"/>
              </a:spcBef>
            </a:pPr>
            <a:endParaRPr lang="en-US" sz="2106">
              <a:solidFill>
                <a:srgbClr val="FFFFFF"/>
              </a:solidFill>
              <a:latin typeface="Arcade Gamer"/>
              <a:ea typeface="Arcade Gamer"/>
              <a:cs typeface="Arcade Gamer"/>
              <a:sym typeface="Arcade Gamer"/>
            </a:endParaRPr>
          </a:p>
        </p:txBody>
      </p:sp>
      <p:sp>
        <p:nvSpPr>
          <p:cNvPr id="25" name="TextBox 25"/>
          <p:cNvSpPr txBox="1"/>
          <p:nvPr/>
        </p:nvSpPr>
        <p:spPr>
          <a:xfrm>
            <a:off x="1863883" y="7272284"/>
            <a:ext cx="3925355" cy="384651"/>
          </a:xfrm>
          <a:prstGeom prst="rect">
            <a:avLst/>
          </a:prstGeom>
        </p:spPr>
        <p:txBody>
          <a:bodyPr lIns="0" tIns="0" rIns="0" bIns="0" rtlCol="0" anchor="t">
            <a:spAutoFit/>
          </a:bodyPr>
          <a:lstStyle/>
          <a:p>
            <a:pPr algn="r">
              <a:lnSpc>
                <a:spcPts val="2948"/>
              </a:lnSpc>
              <a:spcBef>
                <a:spcPct val="0"/>
              </a:spcBef>
            </a:pPr>
            <a:r>
              <a:rPr lang="en-US" sz="2106">
                <a:solidFill>
                  <a:srgbClr val="FFFFFF"/>
                </a:solidFill>
                <a:latin typeface="Arcade Gamer"/>
                <a:ea typeface="Arcade Gamer"/>
                <a:cs typeface="Arcade Gamer"/>
                <a:sym typeface="Arcade Gamer"/>
              </a:rPr>
              <a:t>PAGINA PRINCIPAL</a:t>
            </a:r>
          </a:p>
        </p:txBody>
      </p:sp>
      <p:sp>
        <p:nvSpPr>
          <p:cNvPr id="26" name="TextBox 26"/>
          <p:cNvSpPr txBox="1"/>
          <p:nvPr/>
        </p:nvSpPr>
        <p:spPr>
          <a:xfrm>
            <a:off x="12032135" y="2567152"/>
            <a:ext cx="4020017" cy="383104"/>
          </a:xfrm>
          <a:prstGeom prst="rect">
            <a:avLst/>
          </a:prstGeom>
        </p:spPr>
        <p:txBody>
          <a:bodyPr lIns="0" tIns="0" rIns="0" bIns="0" rtlCol="0" anchor="t">
            <a:spAutoFit/>
          </a:bodyPr>
          <a:lstStyle/>
          <a:p>
            <a:pPr algn="l">
              <a:lnSpc>
                <a:spcPts val="2948"/>
              </a:lnSpc>
              <a:spcBef>
                <a:spcPct val="0"/>
              </a:spcBef>
            </a:pPr>
            <a:r>
              <a:rPr lang="en-US" sz="2106">
                <a:solidFill>
                  <a:srgbClr val="FFFFFF"/>
                </a:solidFill>
                <a:latin typeface="Arcade Gamer"/>
                <a:ea typeface="Arcade Gamer"/>
                <a:cs typeface="Arcade Gamer"/>
                <a:sym typeface="Arcade Gamer"/>
              </a:rPr>
              <a:t>MENU</a:t>
            </a:r>
          </a:p>
        </p:txBody>
      </p:sp>
      <p:sp>
        <p:nvSpPr>
          <p:cNvPr id="27" name="TextBox 27"/>
          <p:cNvSpPr txBox="1"/>
          <p:nvPr/>
        </p:nvSpPr>
        <p:spPr>
          <a:xfrm>
            <a:off x="12032135" y="5036707"/>
            <a:ext cx="3222312" cy="384651"/>
          </a:xfrm>
          <a:prstGeom prst="rect">
            <a:avLst/>
          </a:prstGeom>
        </p:spPr>
        <p:txBody>
          <a:bodyPr lIns="0" tIns="0" rIns="0" bIns="0" rtlCol="0" anchor="t">
            <a:spAutoFit/>
          </a:bodyPr>
          <a:lstStyle/>
          <a:p>
            <a:pPr algn="l">
              <a:lnSpc>
                <a:spcPts val="2948"/>
              </a:lnSpc>
              <a:spcBef>
                <a:spcPct val="0"/>
              </a:spcBef>
            </a:pPr>
            <a:r>
              <a:rPr lang="en-US" sz="2106">
                <a:solidFill>
                  <a:srgbClr val="FFFFFF"/>
                </a:solidFill>
                <a:latin typeface="Arcade Gamer"/>
                <a:ea typeface="Arcade Gamer"/>
                <a:cs typeface="Arcade Gamer"/>
                <a:sym typeface="Arcade Gamer"/>
              </a:rPr>
              <a:t>LOBBY</a:t>
            </a:r>
          </a:p>
        </p:txBody>
      </p:sp>
      <p:sp>
        <p:nvSpPr>
          <p:cNvPr id="28" name="Freeform 28"/>
          <p:cNvSpPr/>
          <p:nvPr/>
        </p:nvSpPr>
        <p:spPr>
          <a:xfrm>
            <a:off x="15473032" y="479378"/>
            <a:ext cx="1786268" cy="295546"/>
          </a:xfrm>
          <a:custGeom>
            <a:avLst/>
            <a:gdLst/>
            <a:ahLst/>
            <a:cxnLst/>
            <a:rect l="l" t="t" r="r" b="b"/>
            <a:pathLst>
              <a:path w="1786268" h="295546">
                <a:moveTo>
                  <a:pt x="0" y="0"/>
                </a:moveTo>
                <a:lnTo>
                  <a:pt x="1786268" y="0"/>
                </a:lnTo>
                <a:lnTo>
                  <a:pt x="1786268" y="295546"/>
                </a:lnTo>
                <a:lnTo>
                  <a:pt x="0" y="29554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MX"/>
          </a:p>
        </p:txBody>
      </p:sp>
      <p:sp>
        <p:nvSpPr>
          <p:cNvPr id="29" name="TextBox 29"/>
          <p:cNvSpPr txBox="1"/>
          <p:nvPr/>
        </p:nvSpPr>
        <p:spPr>
          <a:xfrm>
            <a:off x="12032135" y="7693934"/>
            <a:ext cx="3222312" cy="384651"/>
          </a:xfrm>
          <a:prstGeom prst="rect">
            <a:avLst/>
          </a:prstGeom>
        </p:spPr>
        <p:txBody>
          <a:bodyPr lIns="0" tIns="0" rIns="0" bIns="0" rtlCol="0" anchor="t">
            <a:spAutoFit/>
          </a:bodyPr>
          <a:lstStyle/>
          <a:p>
            <a:pPr algn="l">
              <a:lnSpc>
                <a:spcPts val="2948"/>
              </a:lnSpc>
              <a:spcBef>
                <a:spcPct val="0"/>
              </a:spcBef>
            </a:pPr>
            <a:r>
              <a:rPr lang="en-US" sz="2106">
                <a:solidFill>
                  <a:srgbClr val="FFFFFF"/>
                </a:solidFill>
                <a:latin typeface="Arcade Gamer"/>
                <a:ea typeface="Arcade Gamer"/>
                <a:cs typeface="Arcade Gamer"/>
                <a:sym typeface="Arcade Gamer"/>
              </a:rPr>
              <a:t>LABERINTO</a:t>
            </a:r>
          </a:p>
        </p:txBody>
      </p:sp>
      <p:grpSp>
        <p:nvGrpSpPr>
          <p:cNvPr id="30" name="Group 30"/>
          <p:cNvGrpSpPr/>
          <p:nvPr/>
        </p:nvGrpSpPr>
        <p:grpSpPr>
          <a:xfrm>
            <a:off x="8216956" y="8899485"/>
            <a:ext cx="1387515" cy="1387515"/>
            <a:chOff x="0" y="0"/>
            <a:chExt cx="812800" cy="812800"/>
          </a:xfrm>
        </p:grpSpPr>
        <p:sp>
          <p:nvSpPr>
            <p:cNvPr id="31" name="Freeform 31"/>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ln w="38100" cap="sq">
              <a:solidFill>
                <a:srgbClr val="9E77F3"/>
              </a:solidFill>
              <a:prstDash val="solid"/>
              <a:miter/>
            </a:ln>
          </p:spPr>
          <p:txBody>
            <a:bodyPr/>
            <a:lstStyle/>
            <a:p>
              <a:endParaRPr lang="es-MX"/>
            </a:p>
          </p:txBody>
        </p:sp>
        <p:sp>
          <p:nvSpPr>
            <p:cNvPr id="32" name="TextBox 32"/>
            <p:cNvSpPr txBox="1"/>
            <p:nvPr/>
          </p:nvSpPr>
          <p:spPr>
            <a:xfrm>
              <a:off x="0" y="-114300"/>
              <a:ext cx="812800" cy="927100"/>
            </a:xfrm>
            <a:prstGeom prst="rect">
              <a:avLst/>
            </a:prstGeom>
          </p:spPr>
          <p:txBody>
            <a:bodyPr lIns="50800" tIns="50800" rIns="50800" bIns="50800" rtlCol="0" anchor="ctr"/>
            <a:lstStyle/>
            <a:p>
              <a:pPr algn="ctr">
                <a:lnSpc>
                  <a:spcPts val="5319"/>
                </a:lnSpc>
              </a:pPr>
              <a:r>
                <a:rPr lang="en-US" sz="3799">
                  <a:solidFill>
                    <a:srgbClr val="FF3131"/>
                  </a:solidFill>
                  <a:latin typeface="Arcade Gamer"/>
                  <a:ea typeface="Arcade Gamer"/>
                  <a:cs typeface="Arcade Gamer"/>
                  <a:sym typeface="Arcade Gamer"/>
                </a:rPr>
                <a:t>07</a:t>
              </a:r>
            </a:p>
          </p:txBody>
        </p:sp>
      </p:grpSp>
      <p:sp>
        <p:nvSpPr>
          <p:cNvPr id="33" name="TextBox 33"/>
          <p:cNvSpPr txBox="1"/>
          <p:nvPr/>
        </p:nvSpPr>
        <p:spPr>
          <a:xfrm>
            <a:off x="10420979" y="9367580"/>
            <a:ext cx="3222312" cy="384651"/>
          </a:xfrm>
          <a:prstGeom prst="rect">
            <a:avLst/>
          </a:prstGeom>
        </p:spPr>
        <p:txBody>
          <a:bodyPr lIns="0" tIns="0" rIns="0" bIns="0" rtlCol="0" anchor="t">
            <a:spAutoFit/>
          </a:bodyPr>
          <a:lstStyle/>
          <a:p>
            <a:pPr algn="l">
              <a:lnSpc>
                <a:spcPts val="2948"/>
              </a:lnSpc>
              <a:spcBef>
                <a:spcPct val="0"/>
              </a:spcBef>
            </a:pPr>
            <a:r>
              <a:rPr lang="en-US" sz="2106">
                <a:solidFill>
                  <a:srgbClr val="FFFFFF"/>
                </a:solidFill>
                <a:latin typeface="Arcade Gamer"/>
                <a:ea typeface="Arcade Gamer"/>
                <a:cs typeface="Arcade Gamer"/>
                <a:sym typeface="Arcade Gamer"/>
              </a:rPr>
              <a:t>TCG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5354265" y="1718563"/>
            <a:ext cx="1571900" cy="803098"/>
          </a:xfrm>
          <a:custGeom>
            <a:avLst/>
            <a:gdLst/>
            <a:ahLst/>
            <a:cxnLst/>
            <a:rect l="l" t="t" r="r" b="b"/>
            <a:pathLst>
              <a:path w="1571900" h="803098">
                <a:moveTo>
                  <a:pt x="0" y="0"/>
                </a:moveTo>
                <a:lnTo>
                  <a:pt x="1571900" y="0"/>
                </a:lnTo>
                <a:lnTo>
                  <a:pt x="1571900" y="803098"/>
                </a:lnTo>
                <a:lnTo>
                  <a:pt x="0" y="8030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sp>
        <p:nvSpPr>
          <p:cNvPr id="3" name="Freeform 3"/>
          <p:cNvSpPr/>
          <p:nvPr/>
        </p:nvSpPr>
        <p:spPr>
          <a:xfrm flipH="1">
            <a:off x="712055" y="627151"/>
            <a:ext cx="1571900" cy="803098"/>
          </a:xfrm>
          <a:custGeom>
            <a:avLst/>
            <a:gdLst/>
            <a:ahLst/>
            <a:cxnLst/>
            <a:rect l="l" t="t" r="r" b="b"/>
            <a:pathLst>
              <a:path w="1571900" h="803098">
                <a:moveTo>
                  <a:pt x="1571900" y="0"/>
                </a:moveTo>
                <a:lnTo>
                  <a:pt x="0" y="0"/>
                </a:lnTo>
                <a:lnTo>
                  <a:pt x="0" y="803098"/>
                </a:lnTo>
                <a:lnTo>
                  <a:pt x="1571900" y="803098"/>
                </a:lnTo>
                <a:lnTo>
                  <a:pt x="15719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sp>
        <p:nvSpPr>
          <p:cNvPr id="4" name="Freeform 4"/>
          <p:cNvSpPr/>
          <p:nvPr/>
        </p:nvSpPr>
        <p:spPr>
          <a:xfrm>
            <a:off x="15473032" y="479378"/>
            <a:ext cx="1786268" cy="295546"/>
          </a:xfrm>
          <a:custGeom>
            <a:avLst/>
            <a:gdLst/>
            <a:ahLst/>
            <a:cxnLst/>
            <a:rect l="l" t="t" r="r" b="b"/>
            <a:pathLst>
              <a:path w="1786268" h="295546">
                <a:moveTo>
                  <a:pt x="0" y="0"/>
                </a:moveTo>
                <a:lnTo>
                  <a:pt x="1786268" y="0"/>
                </a:lnTo>
                <a:lnTo>
                  <a:pt x="1786268" y="295546"/>
                </a:lnTo>
                <a:lnTo>
                  <a:pt x="0" y="29554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MX"/>
          </a:p>
        </p:txBody>
      </p:sp>
      <p:grpSp>
        <p:nvGrpSpPr>
          <p:cNvPr id="5" name="Group 5"/>
          <p:cNvGrpSpPr/>
          <p:nvPr/>
        </p:nvGrpSpPr>
        <p:grpSpPr>
          <a:xfrm>
            <a:off x="-140137" y="9100269"/>
            <a:ext cx="18725104" cy="1250234"/>
            <a:chOff x="0" y="0"/>
            <a:chExt cx="24966805" cy="1666979"/>
          </a:xfrm>
        </p:grpSpPr>
        <p:sp>
          <p:nvSpPr>
            <p:cNvPr id="6" name="Freeform 6"/>
            <p:cNvSpPr/>
            <p:nvPr/>
          </p:nvSpPr>
          <p:spPr>
            <a:xfrm>
              <a:off x="0"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4"/>
              <a:stretch>
                <a:fillRect/>
              </a:stretch>
            </a:blipFill>
          </p:spPr>
          <p:txBody>
            <a:bodyPr/>
            <a:lstStyle/>
            <a:p>
              <a:endParaRPr lang="es-MX"/>
            </a:p>
          </p:txBody>
        </p:sp>
        <p:sp>
          <p:nvSpPr>
            <p:cNvPr id="7" name="Freeform 7"/>
            <p:cNvSpPr/>
            <p:nvPr/>
          </p:nvSpPr>
          <p:spPr>
            <a:xfrm>
              <a:off x="8899491"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4"/>
              <a:stretch>
                <a:fillRect/>
              </a:stretch>
            </a:blipFill>
          </p:spPr>
          <p:txBody>
            <a:bodyPr/>
            <a:lstStyle/>
            <a:p>
              <a:endParaRPr lang="es-MX"/>
            </a:p>
          </p:txBody>
        </p:sp>
        <p:sp>
          <p:nvSpPr>
            <p:cNvPr id="8" name="Freeform 8"/>
            <p:cNvSpPr/>
            <p:nvPr/>
          </p:nvSpPr>
          <p:spPr>
            <a:xfrm>
              <a:off x="15213205"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4"/>
              <a:stretch>
                <a:fillRect/>
              </a:stretch>
            </a:blipFill>
          </p:spPr>
          <p:txBody>
            <a:bodyPr/>
            <a:lstStyle/>
            <a:p>
              <a:endParaRPr lang="es-MX"/>
            </a:p>
          </p:txBody>
        </p:sp>
      </p:grpSp>
      <p:sp>
        <p:nvSpPr>
          <p:cNvPr id="9" name="Freeform 9"/>
          <p:cNvSpPr/>
          <p:nvPr/>
        </p:nvSpPr>
        <p:spPr>
          <a:xfrm>
            <a:off x="579352" y="7411166"/>
            <a:ext cx="1837306" cy="1847134"/>
          </a:xfrm>
          <a:custGeom>
            <a:avLst/>
            <a:gdLst/>
            <a:ahLst/>
            <a:cxnLst/>
            <a:rect l="l" t="t" r="r" b="b"/>
            <a:pathLst>
              <a:path w="1837306" h="1847134">
                <a:moveTo>
                  <a:pt x="0" y="0"/>
                </a:moveTo>
                <a:lnTo>
                  <a:pt x="1837306" y="0"/>
                </a:lnTo>
                <a:lnTo>
                  <a:pt x="1837306" y="1847134"/>
                </a:lnTo>
                <a:lnTo>
                  <a:pt x="0" y="1847134"/>
                </a:lnTo>
                <a:lnTo>
                  <a:pt x="0" y="0"/>
                </a:lnTo>
                <a:close/>
              </a:path>
            </a:pathLst>
          </a:custGeom>
          <a:blipFill>
            <a:blip r:embed="rId5"/>
            <a:stretch>
              <a:fillRect r="-206564" b="-303734"/>
            </a:stretch>
          </a:blipFill>
        </p:spPr>
        <p:txBody>
          <a:bodyPr/>
          <a:lstStyle/>
          <a:p>
            <a:endParaRPr lang="es-MX"/>
          </a:p>
        </p:txBody>
      </p:sp>
      <p:sp>
        <p:nvSpPr>
          <p:cNvPr id="10" name="TextBox 10"/>
          <p:cNvSpPr txBox="1"/>
          <p:nvPr/>
        </p:nvSpPr>
        <p:spPr>
          <a:xfrm>
            <a:off x="5041884" y="1575688"/>
            <a:ext cx="8204232" cy="918346"/>
          </a:xfrm>
          <a:prstGeom prst="rect">
            <a:avLst/>
          </a:prstGeom>
        </p:spPr>
        <p:txBody>
          <a:bodyPr lIns="0" tIns="0" rIns="0" bIns="0" rtlCol="0" anchor="t">
            <a:spAutoFit/>
          </a:bodyPr>
          <a:lstStyle/>
          <a:p>
            <a:pPr algn="ctr">
              <a:lnSpc>
                <a:spcPts val="7132"/>
              </a:lnSpc>
              <a:spcBef>
                <a:spcPct val="0"/>
              </a:spcBef>
            </a:pPr>
            <a:r>
              <a:rPr lang="en-US" sz="5094">
                <a:solidFill>
                  <a:srgbClr val="FF3131"/>
                </a:solidFill>
                <a:latin typeface="Arcade Gamer"/>
                <a:ea typeface="Arcade Gamer"/>
                <a:cs typeface="Arcade Gamer"/>
                <a:sym typeface="Arcade Gamer"/>
              </a:rPr>
              <a:t>ELEVATOR PITCH</a:t>
            </a:r>
          </a:p>
        </p:txBody>
      </p:sp>
      <p:sp>
        <p:nvSpPr>
          <p:cNvPr id="11" name="TextBox 11"/>
          <p:cNvSpPr txBox="1"/>
          <p:nvPr/>
        </p:nvSpPr>
        <p:spPr>
          <a:xfrm>
            <a:off x="2065879" y="3397455"/>
            <a:ext cx="14156242" cy="3659753"/>
          </a:xfrm>
          <a:prstGeom prst="rect">
            <a:avLst/>
          </a:prstGeom>
        </p:spPr>
        <p:txBody>
          <a:bodyPr lIns="0" tIns="0" rIns="0" bIns="0" rtlCol="0" anchor="t">
            <a:spAutoFit/>
          </a:bodyPr>
          <a:lstStyle/>
          <a:p>
            <a:pPr algn="ctr">
              <a:lnSpc>
                <a:spcPts val="4178"/>
              </a:lnSpc>
              <a:spcBef>
                <a:spcPct val="0"/>
              </a:spcBef>
            </a:pPr>
            <a:r>
              <a:rPr lang="en-US" sz="2984">
                <a:solidFill>
                  <a:srgbClr val="FFFFFF"/>
                </a:solidFill>
                <a:latin typeface="Arcade Gamer"/>
                <a:ea typeface="Arcade Gamer"/>
                <a:cs typeface="Arcade Gamer"/>
                <a:sym typeface="Arcade Gamer"/>
              </a:rPr>
              <a:t>ENDLESS NIGHTMARE RITUAL ES UN TCG ROGUELITE DONDE ENCARNAS A UN DETECTIVE ATRAPADO EN UN MUNDO TOMADO POR UN CULTO DEMONÍACO. CADA LABERINTO ES GENERADO ALEATORIAMENTE Y ESCONDE CARTAS Y SECRETOS QUE PODRÁS USAR EN COMBATES ESTRATÉGICOS POR TURNOS, DONDE LA SANGRE ES TU ÚNICO RECURSO.</a:t>
            </a:r>
          </a:p>
        </p:txBody>
      </p:sp>
      <p:sp>
        <p:nvSpPr>
          <p:cNvPr id="12" name="TextBox 12"/>
          <p:cNvSpPr txBox="1"/>
          <p:nvPr/>
        </p:nvSpPr>
        <p:spPr>
          <a:xfrm>
            <a:off x="8175799" y="-128396"/>
            <a:ext cx="1936403" cy="1568516"/>
          </a:xfrm>
          <a:prstGeom prst="rect">
            <a:avLst/>
          </a:prstGeom>
        </p:spPr>
        <p:txBody>
          <a:bodyPr lIns="0" tIns="0" rIns="0" bIns="0" rtlCol="0" anchor="t">
            <a:spAutoFit/>
          </a:bodyPr>
          <a:lstStyle/>
          <a:p>
            <a:pPr algn="ctr">
              <a:lnSpc>
                <a:spcPts val="12246"/>
              </a:lnSpc>
              <a:spcBef>
                <a:spcPct val="0"/>
              </a:spcBef>
            </a:pPr>
            <a:r>
              <a:rPr lang="en-US" sz="8747">
                <a:solidFill>
                  <a:srgbClr val="FF3131"/>
                </a:solidFill>
                <a:latin typeface="Arcade Gamer"/>
                <a:ea typeface="Arcade Gamer"/>
                <a:cs typeface="Arcade Gamer"/>
                <a:sym typeface="Arcade Gamer"/>
              </a:rPr>
              <a:t>01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flipH="1">
            <a:off x="242750" y="479378"/>
            <a:ext cx="1571900" cy="803098"/>
          </a:xfrm>
          <a:custGeom>
            <a:avLst/>
            <a:gdLst/>
            <a:ahLst/>
            <a:cxnLst/>
            <a:rect l="l" t="t" r="r" b="b"/>
            <a:pathLst>
              <a:path w="1571900" h="803098">
                <a:moveTo>
                  <a:pt x="1571900" y="0"/>
                </a:moveTo>
                <a:lnTo>
                  <a:pt x="0" y="0"/>
                </a:lnTo>
                <a:lnTo>
                  <a:pt x="0" y="803098"/>
                </a:lnTo>
                <a:lnTo>
                  <a:pt x="1571900" y="803098"/>
                </a:lnTo>
                <a:lnTo>
                  <a:pt x="15719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sp>
        <p:nvSpPr>
          <p:cNvPr id="3" name="Freeform 3"/>
          <p:cNvSpPr/>
          <p:nvPr/>
        </p:nvSpPr>
        <p:spPr>
          <a:xfrm>
            <a:off x="15830550" y="479378"/>
            <a:ext cx="1428750" cy="295546"/>
          </a:xfrm>
          <a:custGeom>
            <a:avLst/>
            <a:gdLst/>
            <a:ahLst/>
            <a:cxnLst/>
            <a:rect l="l" t="t" r="r" b="b"/>
            <a:pathLst>
              <a:path w="1428750" h="295546">
                <a:moveTo>
                  <a:pt x="0" y="0"/>
                </a:moveTo>
                <a:lnTo>
                  <a:pt x="1428750" y="0"/>
                </a:lnTo>
                <a:lnTo>
                  <a:pt x="1428750" y="295546"/>
                </a:lnTo>
                <a:lnTo>
                  <a:pt x="0" y="295546"/>
                </a:lnTo>
                <a:lnTo>
                  <a:pt x="0" y="0"/>
                </a:lnTo>
                <a:close/>
              </a:path>
            </a:pathLst>
          </a:custGeom>
          <a:blipFill>
            <a:blip>
              <a:extLst>
                <a:ext uri="{96DAC541-7B7A-43D3-8B79-37D633B846F1}">
                  <asvg:svgBlip xmlns:asvg="http://schemas.microsoft.com/office/drawing/2016/SVG/main" r:embed="rId3"/>
                </a:ext>
              </a:extLst>
            </a:blip>
            <a:stretch>
              <a:fillRect l="-25023"/>
            </a:stretch>
          </a:blipFill>
        </p:spPr>
        <p:txBody>
          <a:bodyPr/>
          <a:lstStyle/>
          <a:p>
            <a:endParaRPr lang="es-MX"/>
          </a:p>
        </p:txBody>
      </p:sp>
      <p:pic>
        <p:nvPicPr>
          <p:cNvPr id="4" name="Picture 4"/>
          <p:cNvPicPr>
            <a:picLocks noChangeAspect="1"/>
          </p:cNvPicPr>
          <p:nvPr/>
        </p:nvPicPr>
        <p:blipFill>
          <a:blip r:embed="rId4"/>
          <a:srcRect/>
          <a:stretch>
            <a:fillRect/>
          </a:stretch>
        </p:blipFill>
        <p:spPr>
          <a:xfrm>
            <a:off x="8658335" y="8344341"/>
            <a:ext cx="971329" cy="1942659"/>
          </a:xfrm>
          <a:prstGeom prst="rect">
            <a:avLst/>
          </a:prstGeom>
        </p:spPr>
      </p:pic>
      <p:sp>
        <p:nvSpPr>
          <p:cNvPr id="5" name="TextBox 5"/>
          <p:cNvSpPr txBox="1"/>
          <p:nvPr/>
        </p:nvSpPr>
        <p:spPr>
          <a:xfrm>
            <a:off x="794319" y="1316225"/>
            <a:ext cx="16699363" cy="918346"/>
          </a:xfrm>
          <a:prstGeom prst="rect">
            <a:avLst/>
          </a:prstGeom>
        </p:spPr>
        <p:txBody>
          <a:bodyPr lIns="0" tIns="0" rIns="0" bIns="0" rtlCol="0" anchor="t">
            <a:spAutoFit/>
          </a:bodyPr>
          <a:lstStyle/>
          <a:p>
            <a:pPr algn="ctr">
              <a:lnSpc>
                <a:spcPts val="7132"/>
              </a:lnSpc>
              <a:spcBef>
                <a:spcPct val="0"/>
              </a:spcBef>
            </a:pPr>
            <a:r>
              <a:rPr lang="en-US" sz="5094">
                <a:solidFill>
                  <a:srgbClr val="FF3131"/>
                </a:solidFill>
                <a:latin typeface="Arcade Gamer"/>
                <a:ea typeface="Arcade Gamer"/>
                <a:cs typeface="Arcade Gamer"/>
                <a:sym typeface="Arcade Gamer"/>
              </a:rPr>
              <a:t>DESCRIPCIÓN BÁSICA DEL JUEGO</a:t>
            </a:r>
          </a:p>
        </p:txBody>
      </p:sp>
      <p:sp>
        <p:nvSpPr>
          <p:cNvPr id="6" name="TextBox 6"/>
          <p:cNvSpPr txBox="1"/>
          <p:nvPr/>
        </p:nvSpPr>
        <p:spPr>
          <a:xfrm>
            <a:off x="809880" y="2780586"/>
            <a:ext cx="16683802" cy="5751165"/>
          </a:xfrm>
          <a:prstGeom prst="rect">
            <a:avLst/>
          </a:prstGeom>
        </p:spPr>
        <p:txBody>
          <a:bodyPr lIns="0" tIns="0" rIns="0" bIns="0" rtlCol="0" anchor="t">
            <a:spAutoFit/>
          </a:bodyPr>
          <a:lstStyle/>
          <a:p>
            <a:pPr algn="ctr">
              <a:lnSpc>
                <a:spcPts val="3256"/>
              </a:lnSpc>
            </a:pPr>
            <a:r>
              <a:rPr lang="en-US" sz="2326">
                <a:solidFill>
                  <a:srgbClr val="FFFFFF"/>
                </a:solidFill>
                <a:latin typeface="Arcade Gamer"/>
                <a:ea typeface="Arcade Gamer"/>
                <a:cs typeface="Arcade Gamer"/>
                <a:sym typeface="Arcade Gamer"/>
              </a:rPr>
              <a:t>EL JUEGO EN EL AÑO 2005, 20 AÑOS DESPUÉS DE UNA CATÁSTROFE DONDE LA HUMANIDAD SE ENCUENTRA EN LA SITUACIÓN DE TENER QUE VIVIR CON DEMONIOS EN SU ENTORNO.</a:t>
            </a:r>
          </a:p>
          <a:p>
            <a:pPr algn="ctr">
              <a:lnSpc>
                <a:spcPts val="3256"/>
              </a:lnSpc>
            </a:pPr>
            <a:endParaRPr lang="en-US" sz="2326">
              <a:solidFill>
                <a:srgbClr val="FFFFFF"/>
              </a:solidFill>
              <a:latin typeface="Arcade Gamer"/>
              <a:ea typeface="Arcade Gamer"/>
              <a:cs typeface="Arcade Gamer"/>
              <a:sym typeface="Arcade Gamer"/>
            </a:endParaRPr>
          </a:p>
          <a:p>
            <a:pPr algn="ctr">
              <a:lnSpc>
                <a:spcPts val="3256"/>
              </a:lnSpc>
            </a:pPr>
            <a:r>
              <a:rPr lang="en-US" sz="2326">
                <a:solidFill>
                  <a:srgbClr val="FFFFFF"/>
                </a:solidFill>
                <a:latin typeface="Arcade Gamer"/>
                <a:ea typeface="Arcade Gamer"/>
                <a:cs typeface="Arcade Gamer"/>
                <a:sym typeface="Arcade Gamer"/>
              </a:rPr>
              <a:t>COMO JUGADOR ENCARNARÁ A UN DETECTIVE QUE BUSCA DESCUBRIR EL ORIGEN DE TODO.</a:t>
            </a:r>
          </a:p>
          <a:p>
            <a:pPr algn="ctr">
              <a:lnSpc>
                <a:spcPts val="3256"/>
              </a:lnSpc>
            </a:pPr>
            <a:endParaRPr lang="en-US" sz="2326">
              <a:solidFill>
                <a:srgbClr val="FFFFFF"/>
              </a:solidFill>
              <a:latin typeface="Arcade Gamer"/>
              <a:ea typeface="Arcade Gamer"/>
              <a:cs typeface="Arcade Gamer"/>
              <a:sym typeface="Arcade Gamer"/>
            </a:endParaRPr>
          </a:p>
          <a:p>
            <a:pPr algn="ctr">
              <a:lnSpc>
                <a:spcPts val="3256"/>
              </a:lnSpc>
            </a:pPr>
            <a:r>
              <a:rPr lang="en-US" sz="2326">
                <a:solidFill>
                  <a:srgbClr val="FFFFFF"/>
                </a:solidFill>
                <a:latin typeface="Arcade Gamer"/>
                <a:ea typeface="Arcade Gamer"/>
                <a:cs typeface="Arcade Gamer"/>
                <a:sym typeface="Arcade Gamer"/>
              </a:rPr>
              <a:t>LA INVESTIGACIÓN TE LLEVARÁ POR LUGARES ABANDONADOS E INFILTRADOS POR UN CULTO QUE HARÁ LO POSIBLE POR SILENCIARTE.</a:t>
            </a:r>
          </a:p>
          <a:p>
            <a:pPr algn="ctr">
              <a:lnSpc>
                <a:spcPts val="3256"/>
              </a:lnSpc>
            </a:pPr>
            <a:endParaRPr lang="en-US" sz="2326">
              <a:solidFill>
                <a:srgbClr val="FFFFFF"/>
              </a:solidFill>
              <a:latin typeface="Arcade Gamer"/>
              <a:ea typeface="Arcade Gamer"/>
              <a:cs typeface="Arcade Gamer"/>
              <a:sym typeface="Arcade Gamer"/>
            </a:endParaRPr>
          </a:p>
          <a:p>
            <a:pPr algn="ctr">
              <a:lnSpc>
                <a:spcPts val="3256"/>
              </a:lnSpc>
              <a:spcBef>
                <a:spcPct val="0"/>
              </a:spcBef>
            </a:pPr>
            <a:r>
              <a:rPr lang="en-US" sz="2326">
                <a:solidFill>
                  <a:srgbClr val="FFFFFF"/>
                </a:solidFill>
                <a:latin typeface="Arcade Gamer"/>
                <a:ea typeface="Arcade Gamer"/>
                <a:cs typeface="Arcade Gamer"/>
                <a:sym typeface="Arcade Gamer"/>
              </a:rPr>
              <a:t>PARA ENFRENTARLOS, COLECCIONARÁS CARTAS DE COMBATE QUE TE PERMITEN INVOCAR DEMONIOS Y USARLOS COMO ALIADOS EN BATALLAS ESTRATÉGICAS POR TURNOS.</a:t>
            </a:r>
          </a:p>
          <a:p>
            <a:pPr algn="ctr">
              <a:lnSpc>
                <a:spcPts val="3256"/>
              </a:lnSpc>
              <a:spcBef>
                <a:spcPct val="0"/>
              </a:spcBef>
            </a:pPr>
            <a:endParaRPr lang="en-US" sz="2326">
              <a:solidFill>
                <a:srgbClr val="FFFFFF"/>
              </a:solidFill>
              <a:latin typeface="Arcade Gamer"/>
              <a:ea typeface="Arcade Gamer"/>
              <a:cs typeface="Arcade Gamer"/>
              <a:sym typeface="Arcade Gamer"/>
            </a:endParaRPr>
          </a:p>
        </p:txBody>
      </p:sp>
      <p:sp>
        <p:nvSpPr>
          <p:cNvPr id="7" name="TextBox 7"/>
          <p:cNvSpPr txBox="1"/>
          <p:nvPr/>
        </p:nvSpPr>
        <p:spPr>
          <a:xfrm>
            <a:off x="8001223" y="-109416"/>
            <a:ext cx="2285554" cy="1568516"/>
          </a:xfrm>
          <a:prstGeom prst="rect">
            <a:avLst/>
          </a:prstGeom>
        </p:spPr>
        <p:txBody>
          <a:bodyPr lIns="0" tIns="0" rIns="0" bIns="0" rtlCol="0" anchor="t">
            <a:spAutoFit/>
          </a:bodyPr>
          <a:lstStyle/>
          <a:p>
            <a:pPr algn="ctr">
              <a:lnSpc>
                <a:spcPts val="12246"/>
              </a:lnSpc>
              <a:spcBef>
                <a:spcPct val="0"/>
              </a:spcBef>
            </a:pPr>
            <a:r>
              <a:rPr lang="en-US" sz="8747">
                <a:solidFill>
                  <a:srgbClr val="FF3131"/>
                </a:solidFill>
                <a:latin typeface="Arcade Gamer"/>
                <a:ea typeface="Arcade Gamer"/>
                <a:cs typeface="Arcade Gamer"/>
                <a:sym typeface="Arcade Gamer"/>
              </a:rPr>
              <a:t>02</a:t>
            </a:r>
          </a:p>
        </p:txBody>
      </p:sp>
      <p:sp>
        <p:nvSpPr>
          <p:cNvPr id="8" name="Freeform 8"/>
          <p:cNvSpPr/>
          <p:nvPr/>
        </p:nvSpPr>
        <p:spPr>
          <a:xfrm>
            <a:off x="-140137" y="9100269"/>
            <a:ext cx="7315200" cy="1250234"/>
          </a:xfrm>
          <a:custGeom>
            <a:avLst/>
            <a:gdLst/>
            <a:ahLst/>
            <a:cxnLst/>
            <a:rect l="l" t="t" r="r" b="b"/>
            <a:pathLst>
              <a:path w="7315200" h="1250234">
                <a:moveTo>
                  <a:pt x="0" y="0"/>
                </a:moveTo>
                <a:lnTo>
                  <a:pt x="7315200" y="0"/>
                </a:lnTo>
                <a:lnTo>
                  <a:pt x="7315200" y="1250234"/>
                </a:lnTo>
                <a:lnTo>
                  <a:pt x="0" y="1250234"/>
                </a:lnTo>
                <a:lnTo>
                  <a:pt x="0" y="0"/>
                </a:lnTo>
                <a:close/>
              </a:path>
            </a:pathLst>
          </a:custGeom>
          <a:blipFill>
            <a:blip r:embed="rId5"/>
            <a:stretch>
              <a:fillRect/>
            </a:stretch>
          </a:blipFill>
        </p:spPr>
        <p:txBody>
          <a:bodyPr/>
          <a:lstStyle/>
          <a:p>
            <a:endParaRPr lang="es-MX"/>
          </a:p>
        </p:txBody>
      </p:sp>
      <p:sp>
        <p:nvSpPr>
          <p:cNvPr id="9" name="Freeform 9"/>
          <p:cNvSpPr/>
          <p:nvPr/>
        </p:nvSpPr>
        <p:spPr>
          <a:xfrm>
            <a:off x="11269767" y="9100269"/>
            <a:ext cx="7315200" cy="1250234"/>
          </a:xfrm>
          <a:custGeom>
            <a:avLst/>
            <a:gdLst/>
            <a:ahLst/>
            <a:cxnLst/>
            <a:rect l="l" t="t" r="r" b="b"/>
            <a:pathLst>
              <a:path w="7315200" h="1250234">
                <a:moveTo>
                  <a:pt x="0" y="0"/>
                </a:moveTo>
                <a:lnTo>
                  <a:pt x="7315200" y="0"/>
                </a:lnTo>
                <a:lnTo>
                  <a:pt x="7315200" y="1250234"/>
                </a:lnTo>
                <a:lnTo>
                  <a:pt x="0" y="1250234"/>
                </a:lnTo>
                <a:lnTo>
                  <a:pt x="0" y="0"/>
                </a:lnTo>
                <a:close/>
              </a:path>
            </a:pathLst>
          </a:custGeom>
          <a:blipFill>
            <a:blip r:embed="rId5"/>
            <a:stretch>
              <a:fillRect/>
            </a:stretch>
          </a:blipFill>
        </p:spPr>
        <p:txBody>
          <a:bodyPr/>
          <a:lstStyle/>
          <a:p>
            <a:endParaRPr lang="es-MX"/>
          </a:p>
        </p:txBody>
      </p:sp>
      <p:sp>
        <p:nvSpPr>
          <p:cNvPr id="10" name="Freeform 10"/>
          <p:cNvSpPr/>
          <p:nvPr/>
        </p:nvSpPr>
        <p:spPr>
          <a:xfrm>
            <a:off x="16747661" y="7411166"/>
            <a:ext cx="1837306" cy="1847134"/>
          </a:xfrm>
          <a:custGeom>
            <a:avLst/>
            <a:gdLst/>
            <a:ahLst/>
            <a:cxnLst/>
            <a:rect l="l" t="t" r="r" b="b"/>
            <a:pathLst>
              <a:path w="1837306" h="1847134">
                <a:moveTo>
                  <a:pt x="0" y="0"/>
                </a:moveTo>
                <a:lnTo>
                  <a:pt x="1837306" y="0"/>
                </a:lnTo>
                <a:lnTo>
                  <a:pt x="1837306" y="1847134"/>
                </a:lnTo>
                <a:lnTo>
                  <a:pt x="0" y="1847134"/>
                </a:lnTo>
                <a:lnTo>
                  <a:pt x="0" y="0"/>
                </a:lnTo>
                <a:close/>
              </a:path>
            </a:pathLst>
          </a:custGeom>
          <a:blipFill>
            <a:blip r:embed="rId6"/>
            <a:stretch>
              <a:fillRect r="-206564" b="-303734"/>
            </a:stretch>
          </a:blipFill>
        </p:spPr>
        <p:txBody>
          <a:bodyPr/>
          <a:lstStyle/>
          <a:p>
            <a:endParaRPr lang="es-MX"/>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5354265" y="1718563"/>
            <a:ext cx="1571900" cy="803098"/>
          </a:xfrm>
          <a:custGeom>
            <a:avLst/>
            <a:gdLst/>
            <a:ahLst/>
            <a:cxnLst/>
            <a:rect l="l" t="t" r="r" b="b"/>
            <a:pathLst>
              <a:path w="1571900" h="803098">
                <a:moveTo>
                  <a:pt x="0" y="0"/>
                </a:moveTo>
                <a:lnTo>
                  <a:pt x="1571900" y="0"/>
                </a:lnTo>
                <a:lnTo>
                  <a:pt x="1571900" y="803098"/>
                </a:lnTo>
                <a:lnTo>
                  <a:pt x="0" y="8030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sp>
        <p:nvSpPr>
          <p:cNvPr id="3" name="Freeform 3"/>
          <p:cNvSpPr/>
          <p:nvPr/>
        </p:nvSpPr>
        <p:spPr>
          <a:xfrm flipH="1">
            <a:off x="712055" y="627151"/>
            <a:ext cx="1571900" cy="803098"/>
          </a:xfrm>
          <a:custGeom>
            <a:avLst/>
            <a:gdLst/>
            <a:ahLst/>
            <a:cxnLst/>
            <a:rect l="l" t="t" r="r" b="b"/>
            <a:pathLst>
              <a:path w="1571900" h="803098">
                <a:moveTo>
                  <a:pt x="1571900" y="0"/>
                </a:moveTo>
                <a:lnTo>
                  <a:pt x="0" y="0"/>
                </a:lnTo>
                <a:lnTo>
                  <a:pt x="0" y="803098"/>
                </a:lnTo>
                <a:lnTo>
                  <a:pt x="1571900" y="803098"/>
                </a:lnTo>
                <a:lnTo>
                  <a:pt x="15719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sp>
        <p:nvSpPr>
          <p:cNvPr id="4" name="Freeform 4"/>
          <p:cNvSpPr/>
          <p:nvPr/>
        </p:nvSpPr>
        <p:spPr>
          <a:xfrm>
            <a:off x="15473032" y="479378"/>
            <a:ext cx="1786268" cy="295546"/>
          </a:xfrm>
          <a:custGeom>
            <a:avLst/>
            <a:gdLst/>
            <a:ahLst/>
            <a:cxnLst/>
            <a:rect l="l" t="t" r="r" b="b"/>
            <a:pathLst>
              <a:path w="1786268" h="295546">
                <a:moveTo>
                  <a:pt x="0" y="0"/>
                </a:moveTo>
                <a:lnTo>
                  <a:pt x="1786268" y="0"/>
                </a:lnTo>
                <a:lnTo>
                  <a:pt x="1786268" y="295546"/>
                </a:lnTo>
                <a:lnTo>
                  <a:pt x="0" y="29554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MX"/>
          </a:p>
        </p:txBody>
      </p:sp>
      <p:grpSp>
        <p:nvGrpSpPr>
          <p:cNvPr id="5" name="Group 5"/>
          <p:cNvGrpSpPr/>
          <p:nvPr/>
        </p:nvGrpSpPr>
        <p:grpSpPr>
          <a:xfrm>
            <a:off x="-140137" y="9100269"/>
            <a:ext cx="18725104" cy="1250234"/>
            <a:chOff x="0" y="0"/>
            <a:chExt cx="24966805" cy="1666979"/>
          </a:xfrm>
        </p:grpSpPr>
        <p:sp>
          <p:nvSpPr>
            <p:cNvPr id="6" name="Freeform 6"/>
            <p:cNvSpPr/>
            <p:nvPr/>
          </p:nvSpPr>
          <p:spPr>
            <a:xfrm>
              <a:off x="0"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4"/>
              <a:stretch>
                <a:fillRect/>
              </a:stretch>
            </a:blipFill>
          </p:spPr>
          <p:txBody>
            <a:bodyPr/>
            <a:lstStyle/>
            <a:p>
              <a:endParaRPr lang="es-MX"/>
            </a:p>
          </p:txBody>
        </p:sp>
        <p:sp>
          <p:nvSpPr>
            <p:cNvPr id="7" name="Freeform 7"/>
            <p:cNvSpPr/>
            <p:nvPr/>
          </p:nvSpPr>
          <p:spPr>
            <a:xfrm>
              <a:off x="8899491"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4"/>
              <a:stretch>
                <a:fillRect/>
              </a:stretch>
            </a:blipFill>
          </p:spPr>
          <p:txBody>
            <a:bodyPr/>
            <a:lstStyle/>
            <a:p>
              <a:endParaRPr lang="es-MX"/>
            </a:p>
          </p:txBody>
        </p:sp>
        <p:sp>
          <p:nvSpPr>
            <p:cNvPr id="8" name="Freeform 8"/>
            <p:cNvSpPr/>
            <p:nvPr/>
          </p:nvSpPr>
          <p:spPr>
            <a:xfrm>
              <a:off x="15213205"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4"/>
              <a:stretch>
                <a:fillRect/>
              </a:stretch>
            </a:blipFill>
          </p:spPr>
          <p:txBody>
            <a:bodyPr/>
            <a:lstStyle/>
            <a:p>
              <a:endParaRPr lang="es-MX"/>
            </a:p>
          </p:txBody>
        </p:sp>
      </p:grpSp>
      <p:sp>
        <p:nvSpPr>
          <p:cNvPr id="9" name="Freeform 9"/>
          <p:cNvSpPr/>
          <p:nvPr/>
        </p:nvSpPr>
        <p:spPr>
          <a:xfrm>
            <a:off x="579352" y="7411166"/>
            <a:ext cx="1837306" cy="1847134"/>
          </a:xfrm>
          <a:custGeom>
            <a:avLst/>
            <a:gdLst/>
            <a:ahLst/>
            <a:cxnLst/>
            <a:rect l="l" t="t" r="r" b="b"/>
            <a:pathLst>
              <a:path w="1837306" h="1847134">
                <a:moveTo>
                  <a:pt x="0" y="0"/>
                </a:moveTo>
                <a:lnTo>
                  <a:pt x="1837306" y="0"/>
                </a:lnTo>
                <a:lnTo>
                  <a:pt x="1837306" y="1847134"/>
                </a:lnTo>
                <a:lnTo>
                  <a:pt x="0" y="1847134"/>
                </a:lnTo>
                <a:lnTo>
                  <a:pt x="0" y="0"/>
                </a:lnTo>
                <a:close/>
              </a:path>
            </a:pathLst>
          </a:custGeom>
          <a:blipFill>
            <a:blip r:embed="rId5"/>
            <a:stretch>
              <a:fillRect r="-206564" b="-303734"/>
            </a:stretch>
          </a:blipFill>
        </p:spPr>
        <p:txBody>
          <a:bodyPr/>
          <a:lstStyle/>
          <a:p>
            <a:endParaRPr lang="es-MX"/>
          </a:p>
        </p:txBody>
      </p:sp>
      <p:sp>
        <p:nvSpPr>
          <p:cNvPr id="10" name="TextBox 10"/>
          <p:cNvSpPr txBox="1"/>
          <p:nvPr/>
        </p:nvSpPr>
        <p:spPr>
          <a:xfrm>
            <a:off x="3593171" y="800217"/>
            <a:ext cx="10829458" cy="918346"/>
          </a:xfrm>
          <a:prstGeom prst="rect">
            <a:avLst/>
          </a:prstGeom>
        </p:spPr>
        <p:txBody>
          <a:bodyPr lIns="0" tIns="0" rIns="0" bIns="0" rtlCol="0" anchor="t">
            <a:spAutoFit/>
          </a:bodyPr>
          <a:lstStyle/>
          <a:p>
            <a:pPr algn="ctr">
              <a:lnSpc>
                <a:spcPts val="7132"/>
              </a:lnSpc>
              <a:spcBef>
                <a:spcPct val="0"/>
              </a:spcBef>
            </a:pPr>
            <a:r>
              <a:rPr lang="en-US" sz="5094">
                <a:solidFill>
                  <a:srgbClr val="FF3131"/>
                </a:solidFill>
                <a:latin typeface="Arcade Gamer"/>
                <a:ea typeface="Arcade Gamer"/>
                <a:cs typeface="Arcade Gamer"/>
                <a:sym typeface="Arcade Gamer"/>
              </a:rPr>
              <a:t>MECÁNICAS DEL JUEGO</a:t>
            </a:r>
          </a:p>
        </p:txBody>
      </p:sp>
      <p:sp>
        <p:nvSpPr>
          <p:cNvPr id="11" name="TextBox 11"/>
          <p:cNvSpPr txBox="1"/>
          <p:nvPr/>
        </p:nvSpPr>
        <p:spPr>
          <a:xfrm>
            <a:off x="2542768" y="2785890"/>
            <a:ext cx="12930263" cy="1921480"/>
          </a:xfrm>
          <a:prstGeom prst="rect">
            <a:avLst/>
          </a:prstGeom>
        </p:spPr>
        <p:txBody>
          <a:bodyPr lIns="0" tIns="0" rIns="0" bIns="0" rtlCol="0" anchor="t">
            <a:spAutoFit/>
          </a:bodyPr>
          <a:lstStyle/>
          <a:p>
            <a:pPr algn="ctr">
              <a:lnSpc>
                <a:spcPts val="3816"/>
              </a:lnSpc>
              <a:spcBef>
                <a:spcPct val="0"/>
              </a:spcBef>
            </a:pPr>
            <a:r>
              <a:rPr lang="en-US" sz="2726">
                <a:solidFill>
                  <a:srgbClr val="FFFFFF"/>
                </a:solidFill>
                <a:latin typeface="Arcade Gamer"/>
                <a:ea typeface="Arcade Gamer"/>
                <a:cs typeface="Arcade Gamer"/>
                <a:sym typeface="Arcade Gamer"/>
              </a:rPr>
              <a:t>ROGUELITE: EL JUGADOR EXPLORARÁ LABERINTOS CREADOS ALEATORIAMENTE EN DONDE ENCONTRARÁ CARTAS O SECRETOS QUE LE SERVIRÁN PARA EVENTOS POSTERIORES.</a:t>
            </a:r>
          </a:p>
        </p:txBody>
      </p:sp>
      <p:sp>
        <p:nvSpPr>
          <p:cNvPr id="12" name="TextBox 12"/>
          <p:cNvSpPr txBox="1"/>
          <p:nvPr/>
        </p:nvSpPr>
        <p:spPr>
          <a:xfrm>
            <a:off x="2757283" y="5561816"/>
            <a:ext cx="12930263" cy="1445230"/>
          </a:xfrm>
          <a:prstGeom prst="rect">
            <a:avLst/>
          </a:prstGeom>
        </p:spPr>
        <p:txBody>
          <a:bodyPr lIns="0" tIns="0" rIns="0" bIns="0" rtlCol="0" anchor="t">
            <a:spAutoFit/>
          </a:bodyPr>
          <a:lstStyle/>
          <a:p>
            <a:pPr algn="ctr">
              <a:lnSpc>
                <a:spcPts val="3816"/>
              </a:lnSpc>
              <a:spcBef>
                <a:spcPct val="0"/>
              </a:spcBef>
            </a:pPr>
            <a:r>
              <a:rPr lang="en-US" sz="2726">
                <a:solidFill>
                  <a:srgbClr val="FFFFFF"/>
                </a:solidFill>
                <a:latin typeface="Arcade Gamer"/>
                <a:ea typeface="Arcade Gamer"/>
                <a:cs typeface="Arcade Gamer"/>
                <a:sym typeface="Arcade Gamer"/>
              </a:rPr>
              <a:t>TCG: EL JUGADOR PODRÁ PELEAR CON LAS 5 CARTAS QUE SE LE DAN AL INICIO DE LA PARTIDA Y AQUELLAS QUE HAYA LOGRADO CONSEGUIR EN EL LABERINTO.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5354265" y="1718563"/>
            <a:ext cx="1571900" cy="803098"/>
          </a:xfrm>
          <a:custGeom>
            <a:avLst/>
            <a:gdLst/>
            <a:ahLst/>
            <a:cxnLst/>
            <a:rect l="l" t="t" r="r" b="b"/>
            <a:pathLst>
              <a:path w="1571900" h="803098">
                <a:moveTo>
                  <a:pt x="0" y="0"/>
                </a:moveTo>
                <a:lnTo>
                  <a:pt x="1571900" y="0"/>
                </a:lnTo>
                <a:lnTo>
                  <a:pt x="1571900" y="803098"/>
                </a:lnTo>
                <a:lnTo>
                  <a:pt x="0" y="8030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sp>
        <p:nvSpPr>
          <p:cNvPr id="3" name="Freeform 3"/>
          <p:cNvSpPr/>
          <p:nvPr/>
        </p:nvSpPr>
        <p:spPr>
          <a:xfrm flipH="1">
            <a:off x="712055" y="627151"/>
            <a:ext cx="1571900" cy="803098"/>
          </a:xfrm>
          <a:custGeom>
            <a:avLst/>
            <a:gdLst/>
            <a:ahLst/>
            <a:cxnLst/>
            <a:rect l="l" t="t" r="r" b="b"/>
            <a:pathLst>
              <a:path w="1571900" h="803098">
                <a:moveTo>
                  <a:pt x="1571900" y="0"/>
                </a:moveTo>
                <a:lnTo>
                  <a:pt x="0" y="0"/>
                </a:lnTo>
                <a:lnTo>
                  <a:pt x="0" y="803098"/>
                </a:lnTo>
                <a:lnTo>
                  <a:pt x="1571900" y="803098"/>
                </a:lnTo>
                <a:lnTo>
                  <a:pt x="15719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sp>
        <p:nvSpPr>
          <p:cNvPr id="4" name="Freeform 4"/>
          <p:cNvSpPr/>
          <p:nvPr/>
        </p:nvSpPr>
        <p:spPr>
          <a:xfrm>
            <a:off x="15473032" y="479378"/>
            <a:ext cx="1786268" cy="295546"/>
          </a:xfrm>
          <a:custGeom>
            <a:avLst/>
            <a:gdLst/>
            <a:ahLst/>
            <a:cxnLst/>
            <a:rect l="l" t="t" r="r" b="b"/>
            <a:pathLst>
              <a:path w="1786268" h="295546">
                <a:moveTo>
                  <a:pt x="0" y="0"/>
                </a:moveTo>
                <a:lnTo>
                  <a:pt x="1786268" y="0"/>
                </a:lnTo>
                <a:lnTo>
                  <a:pt x="1786268" y="295546"/>
                </a:lnTo>
                <a:lnTo>
                  <a:pt x="0" y="29554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MX"/>
          </a:p>
        </p:txBody>
      </p:sp>
      <p:grpSp>
        <p:nvGrpSpPr>
          <p:cNvPr id="5" name="Group 5"/>
          <p:cNvGrpSpPr/>
          <p:nvPr/>
        </p:nvGrpSpPr>
        <p:grpSpPr>
          <a:xfrm>
            <a:off x="-140137" y="9100269"/>
            <a:ext cx="18725104" cy="1250234"/>
            <a:chOff x="0" y="0"/>
            <a:chExt cx="24966805" cy="1666979"/>
          </a:xfrm>
        </p:grpSpPr>
        <p:sp>
          <p:nvSpPr>
            <p:cNvPr id="6" name="Freeform 6"/>
            <p:cNvSpPr/>
            <p:nvPr/>
          </p:nvSpPr>
          <p:spPr>
            <a:xfrm>
              <a:off x="0"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4"/>
              <a:stretch>
                <a:fillRect/>
              </a:stretch>
            </a:blipFill>
          </p:spPr>
          <p:txBody>
            <a:bodyPr/>
            <a:lstStyle/>
            <a:p>
              <a:endParaRPr lang="es-MX"/>
            </a:p>
          </p:txBody>
        </p:sp>
        <p:sp>
          <p:nvSpPr>
            <p:cNvPr id="7" name="Freeform 7"/>
            <p:cNvSpPr/>
            <p:nvPr/>
          </p:nvSpPr>
          <p:spPr>
            <a:xfrm>
              <a:off x="8899491"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4"/>
              <a:stretch>
                <a:fillRect/>
              </a:stretch>
            </a:blipFill>
          </p:spPr>
          <p:txBody>
            <a:bodyPr/>
            <a:lstStyle/>
            <a:p>
              <a:endParaRPr lang="es-MX"/>
            </a:p>
          </p:txBody>
        </p:sp>
        <p:sp>
          <p:nvSpPr>
            <p:cNvPr id="8" name="Freeform 8"/>
            <p:cNvSpPr/>
            <p:nvPr/>
          </p:nvSpPr>
          <p:spPr>
            <a:xfrm>
              <a:off x="15213205"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4"/>
              <a:stretch>
                <a:fillRect/>
              </a:stretch>
            </a:blipFill>
          </p:spPr>
          <p:txBody>
            <a:bodyPr/>
            <a:lstStyle/>
            <a:p>
              <a:endParaRPr lang="es-MX"/>
            </a:p>
          </p:txBody>
        </p:sp>
      </p:grpSp>
      <p:sp>
        <p:nvSpPr>
          <p:cNvPr id="9" name="Freeform 9"/>
          <p:cNvSpPr/>
          <p:nvPr/>
        </p:nvSpPr>
        <p:spPr>
          <a:xfrm>
            <a:off x="15772506" y="7395236"/>
            <a:ext cx="1837306" cy="1847134"/>
          </a:xfrm>
          <a:custGeom>
            <a:avLst/>
            <a:gdLst/>
            <a:ahLst/>
            <a:cxnLst/>
            <a:rect l="l" t="t" r="r" b="b"/>
            <a:pathLst>
              <a:path w="1837306" h="1847134">
                <a:moveTo>
                  <a:pt x="0" y="0"/>
                </a:moveTo>
                <a:lnTo>
                  <a:pt x="1837306" y="0"/>
                </a:lnTo>
                <a:lnTo>
                  <a:pt x="1837306" y="1847134"/>
                </a:lnTo>
                <a:lnTo>
                  <a:pt x="0" y="1847134"/>
                </a:lnTo>
                <a:lnTo>
                  <a:pt x="0" y="0"/>
                </a:lnTo>
                <a:close/>
              </a:path>
            </a:pathLst>
          </a:custGeom>
          <a:blipFill>
            <a:blip r:embed="rId5"/>
            <a:stretch>
              <a:fillRect r="-206564" b="-303734"/>
            </a:stretch>
          </a:blipFill>
        </p:spPr>
        <p:txBody>
          <a:bodyPr/>
          <a:lstStyle/>
          <a:p>
            <a:endParaRPr lang="es-MX"/>
          </a:p>
        </p:txBody>
      </p:sp>
      <p:sp>
        <p:nvSpPr>
          <p:cNvPr id="10" name="TextBox 10"/>
          <p:cNvSpPr txBox="1"/>
          <p:nvPr/>
        </p:nvSpPr>
        <p:spPr>
          <a:xfrm>
            <a:off x="3463764" y="484276"/>
            <a:ext cx="10829458" cy="918346"/>
          </a:xfrm>
          <a:prstGeom prst="rect">
            <a:avLst/>
          </a:prstGeom>
        </p:spPr>
        <p:txBody>
          <a:bodyPr lIns="0" tIns="0" rIns="0" bIns="0" rtlCol="0" anchor="t">
            <a:spAutoFit/>
          </a:bodyPr>
          <a:lstStyle/>
          <a:p>
            <a:pPr algn="ctr">
              <a:lnSpc>
                <a:spcPts val="7132"/>
              </a:lnSpc>
              <a:spcBef>
                <a:spcPct val="0"/>
              </a:spcBef>
            </a:pPr>
            <a:r>
              <a:rPr lang="en-US" sz="5094">
                <a:solidFill>
                  <a:srgbClr val="FF3131"/>
                </a:solidFill>
                <a:latin typeface="Arcade Gamer"/>
                <a:ea typeface="Arcade Gamer"/>
                <a:cs typeface="Arcade Gamer"/>
                <a:sym typeface="Arcade Gamer"/>
              </a:rPr>
              <a:t>FLUJO DEL JUEGO</a:t>
            </a:r>
          </a:p>
        </p:txBody>
      </p:sp>
      <p:sp>
        <p:nvSpPr>
          <p:cNvPr id="11" name="TextBox 11"/>
          <p:cNvSpPr txBox="1"/>
          <p:nvPr/>
        </p:nvSpPr>
        <p:spPr>
          <a:xfrm>
            <a:off x="2283955" y="1996772"/>
            <a:ext cx="12930263" cy="6207730"/>
          </a:xfrm>
          <a:prstGeom prst="rect">
            <a:avLst/>
          </a:prstGeom>
        </p:spPr>
        <p:txBody>
          <a:bodyPr lIns="0" tIns="0" rIns="0" bIns="0" rtlCol="0" anchor="t">
            <a:spAutoFit/>
          </a:bodyPr>
          <a:lstStyle/>
          <a:p>
            <a:pPr algn="ctr">
              <a:lnSpc>
                <a:spcPts val="3816"/>
              </a:lnSpc>
            </a:pPr>
            <a:r>
              <a:rPr lang="en-US" sz="2726">
                <a:solidFill>
                  <a:srgbClr val="FFFFFF"/>
                </a:solidFill>
                <a:latin typeface="Arcade Gamer"/>
                <a:ea typeface="Arcade Gamer"/>
                <a:cs typeface="Arcade Gamer"/>
                <a:sym typeface="Arcade Gamer"/>
              </a:rPr>
              <a:t>EL JUGADOR ENTRARÁ AL MAPA PIRNCIPAL Y DEBERÁ COMPLETAR EL PRIMER NIVEL, DE LO CONTRARIO NO PODRÁ A OTRAS ZONAS DEL MAPA.</a:t>
            </a:r>
          </a:p>
          <a:p>
            <a:pPr algn="ctr">
              <a:lnSpc>
                <a:spcPts val="3816"/>
              </a:lnSpc>
            </a:pPr>
            <a:endParaRPr lang="en-US" sz="2726">
              <a:solidFill>
                <a:srgbClr val="FFFFFF"/>
              </a:solidFill>
              <a:latin typeface="Arcade Gamer"/>
              <a:ea typeface="Arcade Gamer"/>
              <a:cs typeface="Arcade Gamer"/>
              <a:sym typeface="Arcade Gamer"/>
            </a:endParaRPr>
          </a:p>
          <a:p>
            <a:pPr algn="ctr">
              <a:lnSpc>
                <a:spcPts val="3816"/>
              </a:lnSpc>
            </a:pPr>
            <a:endParaRPr lang="en-US" sz="2726">
              <a:solidFill>
                <a:srgbClr val="FFFFFF"/>
              </a:solidFill>
              <a:latin typeface="Arcade Gamer"/>
              <a:ea typeface="Arcade Gamer"/>
              <a:cs typeface="Arcade Gamer"/>
              <a:sym typeface="Arcade Gamer"/>
            </a:endParaRPr>
          </a:p>
          <a:p>
            <a:pPr algn="ctr">
              <a:lnSpc>
                <a:spcPts val="3816"/>
              </a:lnSpc>
            </a:pPr>
            <a:r>
              <a:rPr lang="en-US" sz="2726">
                <a:solidFill>
                  <a:srgbClr val="FFFFFF"/>
                </a:solidFill>
                <a:latin typeface="Arcade Gamer"/>
                <a:ea typeface="Arcade Gamer"/>
                <a:cs typeface="Arcade Gamer"/>
                <a:sym typeface="Arcade Gamer"/>
              </a:rPr>
              <a:t>UNA VEZ EN EL LABERINTO EL TIEMPO EMPIEZA A CORRER Y EL JUGADOR DEBERÁ TERMINAR ANTES DE QUE SEA DEMASIADO TARDE, SI PIERDE PERDERÁ LO CONSEGUIDO EN EL LABERINTO.</a:t>
            </a:r>
          </a:p>
          <a:p>
            <a:pPr algn="ctr">
              <a:lnSpc>
                <a:spcPts val="3816"/>
              </a:lnSpc>
            </a:pPr>
            <a:endParaRPr lang="en-US" sz="2726">
              <a:solidFill>
                <a:srgbClr val="FFFFFF"/>
              </a:solidFill>
              <a:latin typeface="Arcade Gamer"/>
              <a:ea typeface="Arcade Gamer"/>
              <a:cs typeface="Arcade Gamer"/>
              <a:sym typeface="Arcade Gamer"/>
            </a:endParaRPr>
          </a:p>
          <a:p>
            <a:pPr algn="ctr">
              <a:lnSpc>
                <a:spcPts val="3816"/>
              </a:lnSpc>
              <a:spcBef>
                <a:spcPct val="0"/>
              </a:spcBef>
            </a:pPr>
            <a:r>
              <a:rPr lang="en-US" sz="2726">
                <a:solidFill>
                  <a:srgbClr val="FFFFFF"/>
                </a:solidFill>
                <a:latin typeface="Arcade Gamer"/>
                <a:ea typeface="Arcade Gamer"/>
                <a:cs typeface="Arcade Gamer"/>
                <a:sym typeface="Arcade Gamer"/>
              </a:rPr>
              <a:t>AL LLEGAR AL COMBATE DE CARTAS, ESTE DEBERÁ NOQUEAR 6 CARTAS DEL OPONENTE. UNA VEZ GANADO, REGRESA AL LOBBY Y AVANZA A MÁS MAPAS.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7013066" y="1028700"/>
            <a:ext cx="1571900" cy="803098"/>
          </a:xfrm>
          <a:custGeom>
            <a:avLst/>
            <a:gdLst/>
            <a:ahLst/>
            <a:cxnLst/>
            <a:rect l="l" t="t" r="r" b="b"/>
            <a:pathLst>
              <a:path w="1571900" h="803098">
                <a:moveTo>
                  <a:pt x="0" y="0"/>
                </a:moveTo>
                <a:lnTo>
                  <a:pt x="1571901" y="0"/>
                </a:lnTo>
                <a:lnTo>
                  <a:pt x="1571901" y="803098"/>
                </a:lnTo>
                <a:lnTo>
                  <a:pt x="0" y="8030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sp>
        <p:nvSpPr>
          <p:cNvPr id="3" name="Freeform 3"/>
          <p:cNvSpPr/>
          <p:nvPr/>
        </p:nvSpPr>
        <p:spPr>
          <a:xfrm flipH="1">
            <a:off x="712055" y="627151"/>
            <a:ext cx="1571900" cy="803098"/>
          </a:xfrm>
          <a:custGeom>
            <a:avLst/>
            <a:gdLst/>
            <a:ahLst/>
            <a:cxnLst/>
            <a:rect l="l" t="t" r="r" b="b"/>
            <a:pathLst>
              <a:path w="1571900" h="803098">
                <a:moveTo>
                  <a:pt x="1571900" y="0"/>
                </a:moveTo>
                <a:lnTo>
                  <a:pt x="0" y="0"/>
                </a:lnTo>
                <a:lnTo>
                  <a:pt x="0" y="803098"/>
                </a:lnTo>
                <a:lnTo>
                  <a:pt x="1571900" y="803098"/>
                </a:lnTo>
                <a:lnTo>
                  <a:pt x="15719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sp>
        <p:nvSpPr>
          <p:cNvPr id="4" name="Freeform 4"/>
          <p:cNvSpPr/>
          <p:nvPr/>
        </p:nvSpPr>
        <p:spPr>
          <a:xfrm>
            <a:off x="15473032" y="479378"/>
            <a:ext cx="1786268" cy="295546"/>
          </a:xfrm>
          <a:custGeom>
            <a:avLst/>
            <a:gdLst/>
            <a:ahLst/>
            <a:cxnLst/>
            <a:rect l="l" t="t" r="r" b="b"/>
            <a:pathLst>
              <a:path w="1786268" h="295546">
                <a:moveTo>
                  <a:pt x="0" y="0"/>
                </a:moveTo>
                <a:lnTo>
                  <a:pt x="1786268" y="0"/>
                </a:lnTo>
                <a:lnTo>
                  <a:pt x="1786268" y="295546"/>
                </a:lnTo>
                <a:lnTo>
                  <a:pt x="0" y="29554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MX"/>
          </a:p>
        </p:txBody>
      </p:sp>
      <p:grpSp>
        <p:nvGrpSpPr>
          <p:cNvPr id="5" name="Group 5"/>
          <p:cNvGrpSpPr/>
          <p:nvPr/>
        </p:nvGrpSpPr>
        <p:grpSpPr>
          <a:xfrm>
            <a:off x="-140137" y="9100269"/>
            <a:ext cx="18725104" cy="1250234"/>
            <a:chOff x="0" y="0"/>
            <a:chExt cx="24966805" cy="1666979"/>
          </a:xfrm>
        </p:grpSpPr>
        <p:sp>
          <p:nvSpPr>
            <p:cNvPr id="6" name="Freeform 6"/>
            <p:cNvSpPr/>
            <p:nvPr/>
          </p:nvSpPr>
          <p:spPr>
            <a:xfrm>
              <a:off x="0"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4"/>
              <a:stretch>
                <a:fillRect/>
              </a:stretch>
            </a:blipFill>
          </p:spPr>
          <p:txBody>
            <a:bodyPr/>
            <a:lstStyle/>
            <a:p>
              <a:endParaRPr lang="es-MX"/>
            </a:p>
          </p:txBody>
        </p:sp>
        <p:sp>
          <p:nvSpPr>
            <p:cNvPr id="7" name="Freeform 7"/>
            <p:cNvSpPr/>
            <p:nvPr/>
          </p:nvSpPr>
          <p:spPr>
            <a:xfrm>
              <a:off x="8899491"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4"/>
              <a:stretch>
                <a:fillRect/>
              </a:stretch>
            </a:blipFill>
          </p:spPr>
          <p:txBody>
            <a:bodyPr/>
            <a:lstStyle/>
            <a:p>
              <a:endParaRPr lang="es-MX"/>
            </a:p>
          </p:txBody>
        </p:sp>
        <p:sp>
          <p:nvSpPr>
            <p:cNvPr id="8" name="Freeform 8"/>
            <p:cNvSpPr/>
            <p:nvPr/>
          </p:nvSpPr>
          <p:spPr>
            <a:xfrm>
              <a:off x="15213205"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4"/>
              <a:stretch>
                <a:fillRect/>
              </a:stretch>
            </a:blipFill>
          </p:spPr>
          <p:txBody>
            <a:bodyPr/>
            <a:lstStyle/>
            <a:p>
              <a:endParaRPr lang="es-MX"/>
            </a:p>
          </p:txBody>
        </p:sp>
      </p:grpSp>
      <p:sp>
        <p:nvSpPr>
          <p:cNvPr id="9" name="Freeform 9"/>
          <p:cNvSpPr/>
          <p:nvPr/>
        </p:nvSpPr>
        <p:spPr>
          <a:xfrm>
            <a:off x="4308158" y="2355873"/>
            <a:ext cx="9828514" cy="6548248"/>
          </a:xfrm>
          <a:custGeom>
            <a:avLst/>
            <a:gdLst/>
            <a:ahLst/>
            <a:cxnLst/>
            <a:rect l="l" t="t" r="r" b="b"/>
            <a:pathLst>
              <a:path w="9828514" h="6548248">
                <a:moveTo>
                  <a:pt x="0" y="0"/>
                </a:moveTo>
                <a:lnTo>
                  <a:pt x="9828514" y="0"/>
                </a:lnTo>
                <a:lnTo>
                  <a:pt x="9828514" y="6548247"/>
                </a:lnTo>
                <a:lnTo>
                  <a:pt x="0" y="6548247"/>
                </a:lnTo>
                <a:lnTo>
                  <a:pt x="0" y="0"/>
                </a:lnTo>
                <a:close/>
              </a:path>
            </a:pathLst>
          </a:custGeom>
          <a:blipFill>
            <a:blip r:embed="rId5"/>
            <a:stretch>
              <a:fillRect/>
            </a:stretch>
          </a:blipFill>
        </p:spPr>
        <p:txBody>
          <a:bodyPr/>
          <a:lstStyle/>
          <a:p>
            <a:endParaRPr lang="es-MX"/>
          </a:p>
        </p:txBody>
      </p:sp>
      <p:sp>
        <p:nvSpPr>
          <p:cNvPr id="10" name="TextBox 10"/>
          <p:cNvSpPr txBox="1"/>
          <p:nvPr/>
        </p:nvSpPr>
        <p:spPr>
          <a:xfrm>
            <a:off x="3035292" y="336503"/>
            <a:ext cx="12217416" cy="1823221"/>
          </a:xfrm>
          <a:prstGeom prst="rect">
            <a:avLst/>
          </a:prstGeom>
        </p:spPr>
        <p:txBody>
          <a:bodyPr lIns="0" tIns="0" rIns="0" bIns="0" rtlCol="0" anchor="t">
            <a:spAutoFit/>
          </a:bodyPr>
          <a:lstStyle/>
          <a:p>
            <a:pPr algn="ctr">
              <a:lnSpc>
                <a:spcPts val="7132"/>
              </a:lnSpc>
              <a:spcBef>
                <a:spcPct val="0"/>
              </a:spcBef>
            </a:pPr>
            <a:r>
              <a:rPr lang="en-US" sz="5094">
                <a:solidFill>
                  <a:srgbClr val="FF3131"/>
                </a:solidFill>
                <a:latin typeface="Arcade Gamer"/>
                <a:ea typeface="Arcade Gamer"/>
                <a:cs typeface="Arcade Gamer"/>
                <a:sym typeface="Arcade Gamer"/>
              </a:rPr>
              <a:t>DISEÑOS BÁSICOS Y PALETA DE COLORES</a:t>
            </a:r>
          </a:p>
        </p:txBody>
      </p:sp>
      <p:sp>
        <p:nvSpPr>
          <p:cNvPr id="11" name="Freeform 11"/>
          <p:cNvSpPr/>
          <p:nvPr/>
        </p:nvSpPr>
        <p:spPr>
          <a:xfrm>
            <a:off x="446649" y="7411166"/>
            <a:ext cx="1837306" cy="1847134"/>
          </a:xfrm>
          <a:custGeom>
            <a:avLst/>
            <a:gdLst/>
            <a:ahLst/>
            <a:cxnLst/>
            <a:rect l="l" t="t" r="r" b="b"/>
            <a:pathLst>
              <a:path w="1837306" h="1847134">
                <a:moveTo>
                  <a:pt x="0" y="0"/>
                </a:moveTo>
                <a:lnTo>
                  <a:pt x="1837306" y="0"/>
                </a:lnTo>
                <a:lnTo>
                  <a:pt x="1837306" y="1847134"/>
                </a:lnTo>
                <a:lnTo>
                  <a:pt x="0" y="1847134"/>
                </a:lnTo>
                <a:lnTo>
                  <a:pt x="0" y="0"/>
                </a:lnTo>
                <a:close/>
              </a:path>
            </a:pathLst>
          </a:custGeom>
          <a:blipFill>
            <a:blip r:embed="rId6"/>
            <a:stretch>
              <a:fillRect r="-206564" b="-303734"/>
            </a:stretch>
          </a:blipFill>
        </p:spPr>
        <p:txBody>
          <a:bodyPr/>
          <a:lstStyle/>
          <a:p>
            <a:endParaRPr lang="es-MX"/>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7013066" y="1028700"/>
            <a:ext cx="1571900" cy="803098"/>
          </a:xfrm>
          <a:custGeom>
            <a:avLst/>
            <a:gdLst/>
            <a:ahLst/>
            <a:cxnLst/>
            <a:rect l="l" t="t" r="r" b="b"/>
            <a:pathLst>
              <a:path w="1571900" h="803098">
                <a:moveTo>
                  <a:pt x="0" y="0"/>
                </a:moveTo>
                <a:lnTo>
                  <a:pt x="1571901" y="0"/>
                </a:lnTo>
                <a:lnTo>
                  <a:pt x="1571901" y="803098"/>
                </a:lnTo>
                <a:lnTo>
                  <a:pt x="0" y="80309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sp>
        <p:nvSpPr>
          <p:cNvPr id="3" name="Freeform 3"/>
          <p:cNvSpPr/>
          <p:nvPr/>
        </p:nvSpPr>
        <p:spPr>
          <a:xfrm flipH="1">
            <a:off x="712055" y="627151"/>
            <a:ext cx="1571900" cy="803098"/>
          </a:xfrm>
          <a:custGeom>
            <a:avLst/>
            <a:gdLst/>
            <a:ahLst/>
            <a:cxnLst/>
            <a:rect l="l" t="t" r="r" b="b"/>
            <a:pathLst>
              <a:path w="1571900" h="803098">
                <a:moveTo>
                  <a:pt x="1571900" y="0"/>
                </a:moveTo>
                <a:lnTo>
                  <a:pt x="0" y="0"/>
                </a:lnTo>
                <a:lnTo>
                  <a:pt x="0" y="803098"/>
                </a:lnTo>
                <a:lnTo>
                  <a:pt x="1571900" y="803098"/>
                </a:lnTo>
                <a:lnTo>
                  <a:pt x="15719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sp>
        <p:nvSpPr>
          <p:cNvPr id="4" name="Freeform 4"/>
          <p:cNvSpPr/>
          <p:nvPr/>
        </p:nvSpPr>
        <p:spPr>
          <a:xfrm>
            <a:off x="15473032" y="479378"/>
            <a:ext cx="1786268" cy="295546"/>
          </a:xfrm>
          <a:custGeom>
            <a:avLst/>
            <a:gdLst/>
            <a:ahLst/>
            <a:cxnLst/>
            <a:rect l="l" t="t" r="r" b="b"/>
            <a:pathLst>
              <a:path w="1786268" h="295546">
                <a:moveTo>
                  <a:pt x="0" y="0"/>
                </a:moveTo>
                <a:lnTo>
                  <a:pt x="1786268" y="0"/>
                </a:lnTo>
                <a:lnTo>
                  <a:pt x="1786268" y="295546"/>
                </a:lnTo>
                <a:lnTo>
                  <a:pt x="0" y="29554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MX"/>
          </a:p>
        </p:txBody>
      </p:sp>
      <p:grpSp>
        <p:nvGrpSpPr>
          <p:cNvPr id="5" name="Group 5"/>
          <p:cNvGrpSpPr/>
          <p:nvPr/>
        </p:nvGrpSpPr>
        <p:grpSpPr>
          <a:xfrm>
            <a:off x="-140137" y="9100269"/>
            <a:ext cx="18725104" cy="1250234"/>
            <a:chOff x="0" y="0"/>
            <a:chExt cx="24966805" cy="1666979"/>
          </a:xfrm>
        </p:grpSpPr>
        <p:sp>
          <p:nvSpPr>
            <p:cNvPr id="6" name="Freeform 6"/>
            <p:cNvSpPr/>
            <p:nvPr/>
          </p:nvSpPr>
          <p:spPr>
            <a:xfrm>
              <a:off x="0"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4"/>
              <a:stretch>
                <a:fillRect/>
              </a:stretch>
            </a:blipFill>
          </p:spPr>
          <p:txBody>
            <a:bodyPr/>
            <a:lstStyle/>
            <a:p>
              <a:endParaRPr lang="es-MX"/>
            </a:p>
          </p:txBody>
        </p:sp>
        <p:sp>
          <p:nvSpPr>
            <p:cNvPr id="7" name="Freeform 7"/>
            <p:cNvSpPr/>
            <p:nvPr/>
          </p:nvSpPr>
          <p:spPr>
            <a:xfrm>
              <a:off x="8899491"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4"/>
              <a:stretch>
                <a:fillRect/>
              </a:stretch>
            </a:blipFill>
          </p:spPr>
          <p:txBody>
            <a:bodyPr/>
            <a:lstStyle/>
            <a:p>
              <a:endParaRPr lang="es-MX"/>
            </a:p>
          </p:txBody>
        </p:sp>
        <p:sp>
          <p:nvSpPr>
            <p:cNvPr id="8" name="Freeform 8"/>
            <p:cNvSpPr/>
            <p:nvPr/>
          </p:nvSpPr>
          <p:spPr>
            <a:xfrm>
              <a:off x="15213205"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4"/>
              <a:stretch>
                <a:fillRect/>
              </a:stretch>
            </a:blipFill>
          </p:spPr>
          <p:txBody>
            <a:bodyPr/>
            <a:lstStyle/>
            <a:p>
              <a:endParaRPr lang="es-MX"/>
            </a:p>
          </p:txBody>
        </p:sp>
      </p:grpSp>
      <p:sp>
        <p:nvSpPr>
          <p:cNvPr id="9" name="Freeform 9"/>
          <p:cNvSpPr/>
          <p:nvPr/>
        </p:nvSpPr>
        <p:spPr>
          <a:xfrm>
            <a:off x="1654450" y="2566824"/>
            <a:ext cx="3595664" cy="5396869"/>
          </a:xfrm>
          <a:custGeom>
            <a:avLst/>
            <a:gdLst/>
            <a:ahLst/>
            <a:cxnLst/>
            <a:rect l="l" t="t" r="r" b="b"/>
            <a:pathLst>
              <a:path w="3595664" h="5396869">
                <a:moveTo>
                  <a:pt x="0" y="0"/>
                </a:moveTo>
                <a:lnTo>
                  <a:pt x="3595664" y="0"/>
                </a:lnTo>
                <a:lnTo>
                  <a:pt x="3595664" y="5396869"/>
                </a:lnTo>
                <a:lnTo>
                  <a:pt x="0" y="5396869"/>
                </a:lnTo>
                <a:lnTo>
                  <a:pt x="0" y="0"/>
                </a:lnTo>
                <a:close/>
              </a:path>
            </a:pathLst>
          </a:custGeom>
          <a:blipFill>
            <a:blip r:embed="rId5"/>
            <a:stretch>
              <a:fillRect/>
            </a:stretch>
          </a:blipFill>
        </p:spPr>
        <p:txBody>
          <a:bodyPr/>
          <a:lstStyle/>
          <a:p>
            <a:endParaRPr lang="es-MX"/>
          </a:p>
        </p:txBody>
      </p:sp>
      <p:sp>
        <p:nvSpPr>
          <p:cNvPr id="10" name="Freeform 10"/>
          <p:cNvSpPr/>
          <p:nvPr/>
        </p:nvSpPr>
        <p:spPr>
          <a:xfrm>
            <a:off x="13417402" y="2741620"/>
            <a:ext cx="3362749" cy="5047278"/>
          </a:xfrm>
          <a:custGeom>
            <a:avLst/>
            <a:gdLst/>
            <a:ahLst/>
            <a:cxnLst/>
            <a:rect l="l" t="t" r="r" b="b"/>
            <a:pathLst>
              <a:path w="3362749" h="5047278">
                <a:moveTo>
                  <a:pt x="0" y="0"/>
                </a:moveTo>
                <a:lnTo>
                  <a:pt x="3362749" y="0"/>
                </a:lnTo>
                <a:lnTo>
                  <a:pt x="3362749" y="5047278"/>
                </a:lnTo>
                <a:lnTo>
                  <a:pt x="0" y="5047278"/>
                </a:lnTo>
                <a:lnTo>
                  <a:pt x="0" y="0"/>
                </a:lnTo>
                <a:close/>
              </a:path>
            </a:pathLst>
          </a:custGeom>
          <a:blipFill>
            <a:blip r:embed="rId6"/>
            <a:stretch>
              <a:fillRect/>
            </a:stretch>
          </a:blipFill>
        </p:spPr>
        <p:txBody>
          <a:bodyPr/>
          <a:lstStyle/>
          <a:p>
            <a:endParaRPr lang="es-MX"/>
          </a:p>
        </p:txBody>
      </p:sp>
      <p:sp>
        <p:nvSpPr>
          <p:cNvPr id="11" name="Freeform 11"/>
          <p:cNvSpPr/>
          <p:nvPr/>
        </p:nvSpPr>
        <p:spPr>
          <a:xfrm>
            <a:off x="5640639" y="2691402"/>
            <a:ext cx="3480934" cy="5224667"/>
          </a:xfrm>
          <a:custGeom>
            <a:avLst/>
            <a:gdLst/>
            <a:ahLst/>
            <a:cxnLst/>
            <a:rect l="l" t="t" r="r" b="b"/>
            <a:pathLst>
              <a:path w="3480934" h="5224667">
                <a:moveTo>
                  <a:pt x="0" y="0"/>
                </a:moveTo>
                <a:lnTo>
                  <a:pt x="3480935" y="0"/>
                </a:lnTo>
                <a:lnTo>
                  <a:pt x="3480935" y="5224666"/>
                </a:lnTo>
                <a:lnTo>
                  <a:pt x="0" y="5224666"/>
                </a:lnTo>
                <a:lnTo>
                  <a:pt x="0" y="0"/>
                </a:lnTo>
                <a:close/>
              </a:path>
            </a:pathLst>
          </a:custGeom>
          <a:blipFill>
            <a:blip r:embed="rId7"/>
            <a:stretch>
              <a:fillRect/>
            </a:stretch>
          </a:blipFill>
        </p:spPr>
        <p:txBody>
          <a:bodyPr/>
          <a:lstStyle/>
          <a:p>
            <a:endParaRPr lang="es-MX"/>
          </a:p>
        </p:txBody>
      </p:sp>
      <p:sp>
        <p:nvSpPr>
          <p:cNvPr id="12" name="Freeform 12"/>
          <p:cNvSpPr/>
          <p:nvPr/>
        </p:nvSpPr>
        <p:spPr>
          <a:xfrm>
            <a:off x="9521624" y="2710452"/>
            <a:ext cx="3480934" cy="5224667"/>
          </a:xfrm>
          <a:custGeom>
            <a:avLst/>
            <a:gdLst/>
            <a:ahLst/>
            <a:cxnLst/>
            <a:rect l="l" t="t" r="r" b="b"/>
            <a:pathLst>
              <a:path w="3480934" h="5224667">
                <a:moveTo>
                  <a:pt x="0" y="0"/>
                </a:moveTo>
                <a:lnTo>
                  <a:pt x="3480934" y="0"/>
                </a:lnTo>
                <a:lnTo>
                  <a:pt x="3480934" y="5224666"/>
                </a:lnTo>
                <a:lnTo>
                  <a:pt x="0" y="5224666"/>
                </a:lnTo>
                <a:lnTo>
                  <a:pt x="0" y="0"/>
                </a:lnTo>
                <a:close/>
              </a:path>
            </a:pathLst>
          </a:custGeom>
          <a:blipFill>
            <a:blip r:embed="rId8"/>
            <a:stretch>
              <a:fillRect/>
            </a:stretch>
          </a:blipFill>
        </p:spPr>
        <p:txBody>
          <a:bodyPr/>
          <a:lstStyle/>
          <a:p>
            <a:endParaRPr lang="es-MX"/>
          </a:p>
        </p:txBody>
      </p:sp>
      <p:sp>
        <p:nvSpPr>
          <p:cNvPr id="13" name="TextBox 13"/>
          <p:cNvSpPr txBox="1"/>
          <p:nvPr/>
        </p:nvSpPr>
        <p:spPr>
          <a:xfrm>
            <a:off x="3035292" y="336503"/>
            <a:ext cx="12217416" cy="918346"/>
          </a:xfrm>
          <a:prstGeom prst="rect">
            <a:avLst/>
          </a:prstGeom>
        </p:spPr>
        <p:txBody>
          <a:bodyPr lIns="0" tIns="0" rIns="0" bIns="0" rtlCol="0" anchor="t">
            <a:spAutoFit/>
          </a:bodyPr>
          <a:lstStyle/>
          <a:p>
            <a:pPr algn="ctr">
              <a:lnSpc>
                <a:spcPts val="7132"/>
              </a:lnSpc>
              <a:spcBef>
                <a:spcPct val="0"/>
              </a:spcBef>
            </a:pPr>
            <a:r>
              <a:rPr lang="en-US" sz="5094">
                <a:solidFill>
                  <a:srgbClr val="FF3131"/>
                </a:solidFill>
                <a:latin typeface="Arcade Gamer"/>
                <a:ea typeface="Arcade Gamer"/>
                <a:cs typeface="Arcade Gamer"/>
                <a:sym typeface="Arcade Gamer"/>
              </a:rPr>
              <a:t>CARTAS (TCG)</a:t>
            </a:r>
          </a:p>
        </p:txBody>
      </p:sp>
      <p:sp>
        <p:nvSpPr>
          <p:cNvPr id="14" name="Freeform 14"/>
          <p:cNvSpPr/>
          <p:nvPr/>
        </p:nvSpPr>
        <p:spPr>
          <a:xfrm>
            <a:off x="16780151" y="7411166"/>
            <a:ext cx="1837306" cy="1847134"/>
          </a:xfrm>
          <a:custGeom>
            <a:avLst/>
            <a:gdLst/>
            <a:ahLst/>
            <a:cxnLst/>
            <a:rect l="l" t="t" r="r" b="b"/>
            <a:pathLst>
              <a:path w="1837306" h="1847134">
                <a:moveTo>
                  <a:pt x="0" y="0"/>
                </a:moveTo>
                <a:lnTo>
                  <a:pt x="1837306" y="0"/>
                </a:lnTo>
                <a:lnTo>
                  <a:pt x="1837306" y="1847134"/>
                </a:lnTo>
                <a:lnTo>
                  <a:pt x="0" y="1847134"/>
                </a:lnTo>
                <a:lnTo>
                  <a:pt x="0" y="0"/>
                </a:lnTo>
                <a:close/>
              </a:path>
            </a:pathLst>
          </a:custGeom>
          <a:blipFill>
            <a:blip r:embed="rId9"/>
            <a:stretch>
              <a:fillRect r="-206564" b="-303734"/>
            </a:stretch>
          </a:blipFill>
        </p:spPr>
        <p:txBody>
          <a:bodyPr/>
          <a:lstStyle/>
          <a:p>
            <a:endParaRPr lang="es-MX"/>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flipH="1">
            <a:off x="712055" y="627151"/>
            <a:ext cx="1571900" cy="803098"/>
          </a:xfrm>
          <a:custGeom>
            <a:avLst/>
            <a:gdLst/>
            <a:ahLst/>
            <a:cxnLst/>
            <a:rect l="l" t="t" r="r" b="b"/>
            <a:pathLst>
              <a:path w="1571900" h="803098">
                <a:moveTo>
                  <a:pt x="1571900" y="0"/>
                </a:moveTo>
                <a:lnTo>
                  <a:pt x="0" y="0"/>
                </a:lnTo>
                <a:lnTo>
                  <a:pt x="0" y="803098"/>
                </a:lnTo>
                <a:lnTo>
                  <a:pt x="1571900" y="803098"/>
                </a:lnTo>
                <a:lnTo>
                  <a:pt x="15719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sp>
        <p:nvSpPr>
          <p:cNvPr id="3" name="Freeform 3"/>
          <p:cNvSpPr/>
          <p:nvPr/>
        </p:nvSpPr>
        <p:spPr>
          <a:xfrm>
            <a:off x="15473032" y="479378"/>
            <a:ext cx="1786268" cy="295546"/>
          </a:xfrm>
          <a:custGeom>
            <a:avLst/>
            <a:gdLst/>
            <a:ahLst/>
            <a:cxnLst/>
            <a:rect l="l" t="t" r="r" b="b"/>
            <a:pathLst>
              <a:path w="1786268" h="295546">
                <a:moveTo>
                  <a:pt x="0" y="0"/>
                </a:moveTo>
                <a:lnTo>
                  <a:pt x="1786268" y="0"/>
                </a:lnTo>
                <a:lnTo>
                  <a:pt x="1786268" y="295546"/>
                </a:lnTo>
                <a:lnTo>
                  <a:pt x="0" y="29554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MX"/>
          </a:p>
        </p:txBody>
      </p:sp>
      <p:grpSp>
        <p:nvGrpSpPr>
          <p:cNvPr id="4" name="Group 4"/>
          <p:cNvGrpSpPr/>
          <p:nvPr/>
        </p:nvGrpSpPr>
        <p:grpSpPr>
          <a:xfrm>
            <a:off x="-140137" y="9100269"/>
            <a:ext cx="18725104" cy="1250234"/>
            <a:chOff x="0" y="0"/>
            <a:chExt cx="24966805" cy="1666979"/>
          </a:xfrm>
        </p:grpSpPr>
        <p:sp>
          <p:nvSpPr>
            <p:cNvPr id="5" name="Freeform 5"/>
            <p:cNvSpPr/>
            <p:nvPr/>
          </p:nvSpPr>
          <p:spPr>
            <a:xfrm>
              <a:off x="0"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4"/>
              <a:stretch>
                <a:fillRect/>
              </a:stretch>
            </a:blipFill>
          </p:spPr>
          <p:txBody>
            <a:bodyPr/>
            <a:lstStyle/>
            <a:p>
              <a:endParaRPr lang="es-MX"/>
            </a:p>
          </p:txBody>
        </p:sp>
        <p:sp>
          <p:nvSpPr>
            <p:cNvPr id="6" name="Freeform 6"/>
            <p:cNvSpPr/>
            <p:nvPr/>
          </p:nvSpPr>
          <p:spPr>
            <a:xfrm>
              <a:off x="8899491"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4"/>
              <a:stretch>
                <a:fillRect/>
              </a:stretch>
            </a:blipFill>
          </p:spPr>
          <p:txBody>
            <a:bodyPr/>
            <a:lstStyle/>
            <a:p>
              <a:endParaRPr lang="es-MX"/>
            </a:p>
          </p:txBody>
        </p:sp>
        <p:sp>
          <p:nvSpPr>
            <p:cNvPr id="7" name="Freeform 7"/>
            <p:cNvSpPr/>
            <p:nvPr/>
          </p:nvSpPr>
          <p:spPr>
            <a:xfrm>
              <a:off x="15213205"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4"/>
              <a:stretch>
                <a:fillRect/>
              </a:stretch>
            </a:blipFill>
          </p:spPr>
          <p:txBody>
            <a:bodyPr/>
            <a:lstStyle/>
            <a:p>
              <a:endParaRPr lang="es-MX"/>
            </a:p>
          </p:txBody>
        </p:sp>
      </p:grpSp>
      <p:sp>
        <p:nvSpPr>
          <p:cNvPr id="8" name="TextBox 8"/>
          <p:cNvSpPr txBox="1"/>
          <p:nvPr/>
        </p:nvSpPr>
        <p:spPr>
          <a:xfrm>
            <a:off x="3463764" y="307928"/>
            <a:ext cx="10829458" cy="918346"/>
          </a:xfrm>
          <a:prstGeom prst="rect">
            <a:avLst/>
          </a:prstGeom>
        </p:spPr>
        <p:txBody>
          <a:bodyPr lIns="0" tIns="0" rIns="0" bIns="0" rtlCol="0" anchor="t">
            <a:spAutoFit/>
          </a:bodyPr>
          <a:lstStyle/>
          <a:p>
            <a:pPr algn="ctr">
              <a:lnSpc>
                <a:spcPts val="7132"/>
              </a:lnSpc>
              <a:spcBef>
                <a:spcPct val="0"/>
              </a:spcBef>
            </a:pPr>
            <a:r>
              <a:rPr lang="en-US" sz="5094">
                <a:solidFill>
                  <a:srgbClr val="FF3131"/>
                </a:solidFill>
                <a:latin typeface="Arcade Gamer"/>
                <a:ea typeface="Arcade Gamer"/>
                <a:cs typeface="Arcade Gamer"/>
                <a:sym typeface="Arcade Gamer"/>
              </a:rPr>
              <a:t>REFLEXIÓN GRUPAL</a:t>
            </a:r>
          </a:p>
        </p:txBody>
      </p:sp>
      <p:sp>
        <p:nvSpPr>
          <p:cNvPr id="9" name="TextBox 9"/>
          <p:cNvSpPr txBox="1"/>
          <p:nvPr/>
        </p:nvSpPr>
        <p:spPr>
          <a:xfrm>
            <a:off x="1169331" y="1430249"/>
            <a:ext cx="16106167" cy="7160230"/>
          </a:xfrm>
          <a:prstGeom prst="rect">
            <a:avLst/>
          </a:prstGeom>
        </p:spPr>
        <p:txBody>
          <a:bodyPr lIns="0" tIns="0" rIns="0" bIns="0" rtlCol="0" anchor="t">
            <a:spAutoFit/>
          </a:bodyPr>
          <a:lstStyle/>
          <a:p>
            <a:pPr algn="ctr">
              <a:lnSpc>
                <a:spcPts val="3816"/>
              </a:lnSpc>
            </a:pPr>
            <a:r>
              <a:rPr lang="en-US" sz="2726">
                <a:solidFill>
                  <a:srgbClr val="FFFFFF"/>
                </a:solidFill>
                <a:latin typeface="Arcade Gamer"/>
                <a:ea typeface="Arcade Gamer"/>
                <a:cs typeface="Arcade Gamer"/>
                <a:sym typeface="Arcade Gamer"/>
              </a:rPr>
              <a:t>MONIQUE:</a:t>
            </a:r>
          </a:p>
          <a:p>
            <a:pPr algn="just">
              <a:lnSpc>
                <a:spcPts val="3816"/>
              </a:lnSpc>
              <a:spcBef>
                <a:spcPct val="0"/>
              </a:spcBef>
            </a:pPr>
            <a:r>
              <a:rPr lang="en-US" sz="2726">
                <a:solidFill>
                  <a:srgbClr val="FFFFFF"/>
                </a:solidFill>
                <a:latin typeface="Arcade Gamer"/>
                <a:ea typeface="Arcade Gamer"/>
                <a:cs typeface="Arcade Gamer"/>
                <a:sym typeface="Arcade Gamer"/>
              </a:rPr>
              <a:t>EN CUANTO A LOS APRENDIZAJES QUE TUVIMOS COMO EQUIPO, OPINO QUE FUE UN RETO EL TERMINAR ESTE JUEGO DADO QUE LA COMUNICACIÓN NO FUE LA MEJOR AL INICIO. EN CUANTO A REPARTICIÓN DE TRABAJO PODRÍAMOS HABER DIVIDIDO BIEN DESDE EL PRINCIPIO TODO PERO POR ERRORES DE DIRECCIÓN EN EL PROYECTO NO SE DIO ASÍ. CON ESTO PUEDO DECIR QUE SI ES MUY IMPORTANTE HABLAR CON EL EQUIPO Y QUE TODOS TRABAJEMOS EN CONJUNTO DADO QUE LOS PROYECTOS CADA VEZ MÁS VAN AUMENTANDO DE DIFICULTAD, ENTONCES ES PRIMORDIAL RECONOCER LAS FORTALEZAS DE LOS DEMÁS Y HABLAR LAS COSAS ANTES DE QUE HAYAN FUERTES BRECHAS EN CUANTO A LAS VERSIONES DEL PROYECTO. PARA FINALIZAR, OPINO QUE PROBABLEMENTE NO FUIMOS EL MEJOR EQUIPO NI EL MEJOR VIDEOJUEGO, PERO LOS TRES ESTUVIMOS HASTA EL FINAL Y LOGRAMOS RESOLVER NUESTRAS DIFERENCIAS.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flipH="1">
            <a:off x="712055" y="627151"/>
            <a:ext cx="1571900" cy="803098"/>
          </a:xfrm>
          <a:custGeom>
            <a:avLst/>
            <a:gdLst/>
            <a:ahLst/>
            <a:cxnLst/>
            <a:rect l="l" t="t" r="r" b="b"/>
            <a:pathLst>
              <a:path w="1571900" h="803098">
                <a:moveTo>
                  <a:pt x="1571900" y="0"/>
                </a:moveTo>
                <a:lnTo>
                  <a:pt x="0" y="0"/>
                </a:lnTo>
                <a:lnTo>
                  <a:pt x="0" y="803098"/>
                </a:lnTo>
                <a:lnTo>
                  <a:pt x="1571900" y="803098"/>
                </a:lnTo>
                <a:lnTo>
                  <a:pt x="15719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sp>
        <p:nvSpPr>
          <p:cNvPr id="3" name="Freeform 3"/>
          <p:cNvSpPr/>
          <p:nvPr/>
        </p:nvSpPr>
        <p:spPr>
          <a:xfrm>
            <a:off x="15473032" y="479378"/>
            <a:ext cx="1786268" cy="295546"/>
          </a:xfrm>
          <a:custGeom>
            <a:avLst/>
            <a:gdLst/>
            <a:ahLst/>
            <a:cxnLst/>
            <a:rect l="l" t="t" r="r" b="b"/>
            <a:pathLst>
              <a:path w="1786268" h="295546">
                <a:moveTo>
                  <a:pt x="0" y="0"/>
                </a:moveTo>
                <a:lnTo>
                  <a:pt x="1786268" y="0"/>
                </a:lnTo>
                <a:lnTo>
                  <a:pt x="1786268" y="295546"/>
                </a:lnTo>
                <a:lnTo>
                  <a:pt x="0" y="29554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MX"/>
          </a:p>
        </p:txBody>
      </p:sp>
      <p:grpSp>
        <p:nvGrpSpPr>
          <p:cNvPr id="4" name="Group 4"/>
          <p:cNvGrpSpPr/>
          <p:nvPr/>
        </p:nvGrpSpPr>
        <p:grpSpPr>
          <a:xfrm>
            <a:off x="-140137" y="9100269"/>
            <a:ext cx="18725104" cy="1250234"/>
            <a:chOff x="0" y="0"/>
            <a:chExt cx="24966805" cy="1666979"/>
          </a:xfrm>
        </p:grpSpPr>
        <p:sp>
          <p:nvSpPr>
            <p:cNvPr id="5" name="Freeform 5"/>
            <p:cNvSpPr/>
            <p:nvPr/>
          </p:nvSpPr>
          <p:spPr>
            <a:xfrm>
              <a:off x="0"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4"/>
              <a:stretch>
                <a:fillRect/>
              </a:stretch>
            </a:blipFill>
          </p:spPr>
          <p:txBody>
            <a:bodyPr/>
            <a:lstStyle/>
            <a:p>
              <a:endParaRPr lang="es-MX"/>
            </a:p>
          </p:txBody>
        </p:sp>
        <p:sp>
          <p:nvSpPr>
            <p:cNvPr id="6" name="Freeform 6"/>
            <p:cNvSpPr/>
            <p:nvPr/>
          </p:nvSpPr>
          <p:spPr>
            <a:xfrm>
              <a:off x="8899491"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4"/>
              <a:stretch>
                <a:fillRect/>
              </a:stretch>
            </a:blipFill>
          </p:spPr>
          <p:txBody>
            <a:bodyPr/>
            <a:lstStyle/>
            <a:p>
              <a:endParaRPr lang="es-MX"/>
            </a:p>
          </p:txBody>
        </p:sp>
        <p:sp>
          <p:nvSpPr>
            <p:cNvPr id="7" name="Freeform 7"/>
            <p:cNvSpPr/>
            <p:nvPr/>
          </p:nvSpPr>
          <p:spPr>
            <a:xfrm>
              <a:off x="15213205"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4"/>
              <a:stretch>
                <a:fillRect/>
              </a:stretch>
            </a:blipFill>
          </p:spPr>
          <p:txBody>
            <a:bodyPr/>
            <a:lstStyle/>
            <a:p>
              <a:endParaRPr lang="es-MX"/>
            </a:p>
          </p:txBody>
        </p:sp>
      </p:grpSp>
      <p:sp>
        <p:nvSpPr>
          <p:cNvPr id="8" name="TextBox 8"/>
          <p:cNvSpPr txBox="1"/>
          <p:nvPr/>
        </p:nvSpPr>
        <p:spPr>
          <a:xfrm>
            <a:off x="3463764" y="307928"/>
            <a:ext cx="10829458" cy="918346"/>
          </a:xfrm>
          <a:prstGeom prst="rect">
            <a:avLst/>
          </a:prstGeom>
        </p:spPr>
        <p:txBody>
          <a:bodyPr lIns="0" tIns="0" rIns="0" bIns="0" rtlCol="0" anchor="t">
            <a:spAutoFit/>
          </a:bodyPr>
          <a:lstStyle/>
          <a:p>
            <a:pPr algn="ctr">
              <a:lnSpc>
                <a:spcPts val="7132"/>
              </a:lnSpc>
              <a:spcBef>
                <a:spcPct val="0"/>
              </a:spcBef>
            </a:pPr>
            <a:r>
              <a:rPr lang="en-US" sz="5094">
                <a:solidFill>
                  <a:srgbClr val="FF3131"/>
                </a:solidFill>
                <a:latin typeface="Arcade Gamer"/>
                <a:ea typeface="Arcade Gamer"/>
                <a:cs typeface="Arcade Gamer"/>
                <a:sym typeface="Arcade Gamer"/>
              </a:rPr>
              <a:t>REFLEXIÓN GRUPAL</a:t>
            </a:r>
          </a:p>
        </p:txBody>
      </p:sp>
      <p:sp>
        <p:nvSpPr>
          <p:cNvPr id="9" name="TextBox 9"/>
          <p:cNvSpPr txBox="1"/>
          <p:nvPr/>
        </p:nvSpPr>
        <p:spPr>
          <a:xfrm>
            <a:off x="1153133" y="2031713"/>
            <a:ext cx="16106167" cy="6288516"/>
          </a:xfrm>
          <a:prstGeom prst="rect">
            <a:avLst/>
          </a:prstGeom>
        </p:spPr>
        <p:txBody>
          <a:bodyPr lIns="0" tIns="0" rIns="0" bIns="0" rtlCol="0" anchor="t">
            <a:spAutoFit/>
          </a:bodyPr>
          <a:lstStyle/>
          <a:p>
            <a:pPr algn="ctr">
              <a:lnSpc>
                <a:spcPts val="3816"/>
              </a:lnSpc>
            </a:pPr>
            <a:r>
              <a:rPr lang="en-US" sz="2726" dirty="0">
                <a:solidFill>
                  <a:srgbClr val="FFFFFF"/>
                </a:solidFill>
                <a:latin typeface="Arcade Gamer"/>
                <a:ea typeface="Arcade Gamer"/>
                <a:cs typeface="Arcade Gamer"/>
                <a:sym typeface="Arcade Gamer"/>
              </a:rPr>
              <a:t>JULIÁN:</a:t>
            </a:r>
          </a:p>
          <a:p>
            <a:pPr algn="l">
              <a:lnSpc>
                <a:spcPts val="3816"/>
              </a:lnSpc>
            </a:pPr>
            <a:endParaRPr lang="en-US" sz="2726" dirty="0">
              <a:solidFill>
                <a:srgbClr val="FFFFFF"/>
              </a:solidFill>
              <a:latin typeface="Arcade Gamer"/>
              <a:ea typeface="Arcade Gamer"/>
              <a:cs typeface="Arcade Gamer"/>
              <a:sym typeface="Arcade Gamer"/>
            </a:endParaRPr>
          </a:p>
          <a:p>
            <a:pPr>
              <a:lnSpc>
                <a:spcPts val="3816"/>
              </a:lnSpc>
              <a:spcBef>
                <a:spcPct val="0"/>
              </a:spcBef>
            </a:pPr>
            <a:r>
              <a:rPr lang="en-US" sz="2726" dirty="0">
                <a:solidFill>
                  <a:srgbClr val="FFFFFF"/>
                </a:solidFill>
                <a:latin typeface="Arcade Gamer"/>
                <a:ea typeface="Arcade Gamer"/>
                <a:cs typeface="Arcade Gamer"/>
                <a:sym typeface="Arcade Gamer"/>
              </a:rPr>
              <a:t>ESTE PROYECTO ME GUSTÓ MUCHO Y AL MISMO TIEMPO ME FRUSTRÓ MUCHO. MÁS QUE APRENDIZAJE DE NUEVAS MECÁNICAS O DEMÁS, MUCHO </a:t>
            </a:r>
            <a:r>
              <a:rPr lang="en-US" sz="2726" dirty="0" err="1">
                <a:solidFill>
                  <a:srgbClr val="FFFFFF"/>
                </a:solidFill>
                <a:latin typeface="Arcade Gamer"/>
                <a:ea typeface="Arcade Gamer"/>
                <a:cs typeface="Arcade Gamer"/>
                <a:sym typeface="Arcade Gamer"/>
              </a:rPr>
              <a:t>MUCHO</a:t>
            </a:r>
            <a:r>
              <a:rPr lang="en-US" sz="2726" dirty="0">
                <a:solidFill>
                  <a:srgbClr val="FFFFFF"/>
                </a:solidFill>
                <a:latin typeface="Arcade Gamer"/>
                <a:ea typeface="Arcade Gamer"/>
                <a:cs typeface="Arcade Gamer"/>
                <a:sym typeface="Arcade Gamer"/>
              </a:rPr>
              <a:t> DE APRENDIZAJE EN EQUIPO Y COORDINACIÓN. COLABORÉ CON GENTE NUEVA, YYY FUE UNA EXPERIENCIA NUEVA. </a:t>
            </a:r>
            <a:r>
              <a:rPr lang="es-MX" sz="2726" dirty="0">
                <a:solidFill>
                  <a:srgbClr val="FFFFFF"/>
                </a:solidFill>
                <a:latin typeface="Arcade Gamer"/>
                <a:ea typeface="Arcade Gamer"/>
                <a:cs typeface="Arcade Gamer"/>
                <a:sym typeface="Arcade Gamer"/>
              </a:rPr>
              <a:t>Aprendí colaborar y escuchar. Este proyecto me enseñó mucha paciencia y aprendí a colaborar con personas con una visión cerrada, sin embargo logramos </a:t>
            </a:r>
            <a:r>
              <a:rPr lang="es-MX" sz="2726" dirty="0" err="1">
                <a:solidFill>
                  <a:srgbClr val="FFFFFF"/>
                </a:solidFill>
                <a:latin typeface="Arcade Gamer"/>
                <a:ea typeface="Arcade Gamer"/>
                <a:cs typeface="Arcade Gamer"/>
                <a:sym typeface="Arcade Gamer"/>
              </a:rPr>
              <a:t>avamzar</a:t>
            </a:r>
            <a:r>
              <a:rPr lang="es-MX" sz="2726" dirty="0">
                <a:solidFill>
                  <a:srgbClr val="FFFFFF"/>
                </a:solidFill>
                <a:latin typeface="Arcade Gamer"/>
                <a:ea typeface="Arcade Gamer"/>
                <a:cs typeface="Arcade Gamer"/>
                <a:sym typeface="Arcade Gamer"/>
              </a:rPr>
              <a:t> el proyecto y lograr sacar un trabajo lo cual estoy orgulloso y </a:t>
            </a:r>
            <a:r>
              <a:rPr lang="es-MX" sz="2726" dirty="0" err="1">
                <a:solidFill>
                  <a:srgbClr val="FFFFFF"/>
                </a:solidFill>
                <a:latin typeface="Arcade Gamer"/>
                <a:ea typeface="Arcade Gamer"/>
                <a:cs typeface="Arcade Gamer"/>
                <a:sym typeface="Arcade Gamer"/>
              </a:rPr>
              <a:t>proud</a:t>
            </a:r>
            <a:r>
              <a:rPr lang="es-MX" sz="2726" dirty="0">
                <a:solidFill>
                  <a:srgbClr val="FFFFFF"/>
                </a:solidFill>
                <a:latin typeface="Arcade Gamer"/>
                <a:ea typeface="Arcade Gamer"/>
                <a:cs typeface="Arcade Gamer"/>
                <a:sym typeface="Arcade Gamer"/>
              </a:rPr>
              <a:t> de lo que conseguimos. Aprecio mucho a una compañera la cual siempre apoyo en mi y sin ella no lográbamos sacar el proyecto. Este proyecto me gustó mucho y lo aprecio.</a:t>
            </a:r>
            <a:endParaRPr lang="en-US" sz="2726" dirty="0">
              <a:solidFill>
                <a:srgbClr val="FFFFFF"/>
              </a:solidFill>
              <a:latin typeface="Arcade Gamer"/>
              <a:ea typeface="Arcade Gamer"/>
              <a:cs typeface="Arcade Gamer"/>
              <a:sym typeface="Arcade Game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flipH="1">
            <a:off x="712055" y="627151"/>
            <a:ext cx="1571900" cy="803098"/>
          </a:xfrm>
          <a:custGeom>
            <a:avLst/>
            <a:gdLst/>
            <a:ahLst/>
            <a:cxnLst/>
            <a:rect l="l" t="t" r="r" b="b"/>
            <a:pathLst>
              <a:path w="1571900" h="803098">
                <a:moveTo>
                  <a:pt x="1571900" y="0"/>
                </a:moveTo>
                <a:lnTo>
                  <a:pt x="0" y="0"/>
                </a:lnTo>
                <a:lnTo>
                  <a:pt x="0" y="803098"/>
                </a:lnTo>
                <a:lnTo>
                  <a:pt x="1571900" y="803098"/>
                </a:lnTo>
                <a:lnTo>
                  <a:pt x="15719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s-MX"/>
          </a:p>
        </p:txBody>
      </p:sp>
      <p:sp>
        <p:nvSpPr>
          <p:cNvPr id="3" name="Freeform 3"/>
          <p:cNvSpPr/>
          <p:nvPr/>
        </p:nvSpPr>
        <p:spPr>
          <a:xfrm>
            <a:off x="15473032" y="479378"/>
            <a:ext cx="1786268" cy="295546"/>
          </a:xfrm>
          <a:custGeom>
            <a:avLst/>
            <a:gdLst/>
            <a:ahLst/>
            <a:cxnLst/>
            <a:rect l="l" t="t" r="r" b="b"/>
            <a:pathLst>
              <a:path w="1786268" h="295546">
                <a:moveTo>
                  <a:pt x="0" y="0"/>
                </a:moveTo>
                <a:lnTo>
                  <a:pt x="1786268" y="0"/>
                </a:lnTo>
                <a:lnTo>
                  <a:pt x="1786268" y="295546"/>
                </a:lnTo>
                <a:lnTo>
                  <a:pt x="0" y="29554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MX"/>
          </a:p>
        </p:txBody>
      </p:sp>
      <p:grpSp>
        <p:nvGrpSpPr>
          <p:cNvPr id="4" name="Group 4"/>
          <p:cNvGrpSpPr/>
          <p:nvPr/>
        </p:nvGrpSpPr>
        <p:grpSpPr>
          <a:xfrm>
            <a:off x="-140137" y="9100269"/>
            <a:ext cx="18725104" cy="1250234"/>
            <a:chOff x="0" y="0"/>
            <a:chExt cx="24966805" cy="1666979"/>
          </a:xfrm>
        </p:grpSpPr>
        <p:sp>
          <p:nvSpPr>
            <p:cNvPr id="5" name="Freeform 5"/>
            <p:cNvSpPr/>
            <p:nvPr/>
          </p:nvSpPr>
          <p:spPr>
            <a:xfrm>
              <a:off x="0"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4"/>
              <a:stretch>
                <a:fillRect/>
              </a:stretch>
            </a:blipFill>
          </p:spPr>
          <p:txBody>
            <a:bodyPr/>
            <a:lstStyle/>
            <a:p>
              <a:endParaRPr lang="es-MX"/>
            </a:p>
          </p:txBody>
        </p:sp>
        <p:sp>
          <p:nvSpPr>
            <p:cNvPr id="6" name="Freeform 6"/>
            <p:cNvSpPr/>
            <p:nvPr/>
          </p:nvSpPr>
          <p:spPr>
            <a:xfrm>
              <a:off x="8899491"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4"/>
              <a:stretch>
                <a:fillRect/>
              </a:stretch>
            </a:blipFill>
          </p:spPr>
          <p:txBody>
            <a:bodyPr/>
            <a:lstStyle/>
            <a:p>
              <a:endParaRPr lang="es-MX"/>
            </a:p>
          </p:txBody>
        </p:sp>
        <p:sp>
          <p:nvSpPr>
            <p:cNvPr id="7" name="Freeform 7"/>
            <p:cNvSpPr/>
            <p:nvPr/>
          </p:nvSpPr>
          <p:spPr>
            <a:xfrm>
              <a:off x="15213205" y="0"/>
              <a:ext cx="9753600" cy="1666979"/>
            </a:xfrm>
            <a:custGeom>
              <a:avLst/>
              <a:gdLst/>
              <a:ahLst/>
              <a:cxnLst/>
              <a:rect l="l" t="t" r="r" b="b"/>
              <a:pathLst>
                <a:path w="9753600" h="1666979">
                  <a:moveTo>
                    <a:pt x="0" y="0"/>
                  </a:moveTo>
                  <a:lnTo>
                    <a:pt x="9753600" y="0"/>
                  </a:lnTo>
                  <a:lnTo>
                    <a:pt x="9753600" y="1666979"/>
                  </a:lnTo>
                  <a:lnTo>
                    <a:pt x="0" y="1666979"/>
                  </a:lnTo>
                  <a:lnTo>
                    <a:pt x="0" y="0"/>
                  </a:lnTo>
                  <a:close/>
                </a:path>
              </a:pathLst>
            </a:custGeom>
            <a:blipFill>
              <a:blip r:embed="rId4"/>
              <a:stretch>
                <a:fillRect/>
              </a:stretch>
            </a:blipFill>
          </p:spPr>
          <p:txBody>
            <a:bodyPr/>
            <a:lstStyle/>
            <a:p>
              <a:endParaRPr lang="es-MX"/>
            </a:p>
          </p:txBody>
        </p:sp>
      </p:grpSp>
      <p:sp>
        <p:nvSpPr>
          <p:cNvPr id="8" name="TextBox 8"/>
          <p:cNvSpPr txBox="1"/>
          <p:nvPr/>
        </p:nvSpPr>
        <p:spPr>
          <a:xfrm>
            <a:off x="3463764" y="307928"/>
            <a:ext cx="10829458" cy="918346"/>
          </a:xfrm>
          <a:prstGeom prst="rect">
            <a:avLst/>
          </a:prstGeom>
        </p:spPr>
        <p:txBody>
          <a:bodyPr lIns="0" tIns="0" rIns="0" bIns="0" rtlCol="0" anchor="t">
            <a:spAutoFit/>
          </a:bodyPr>
          <a:lstStyle/>
          <a:p>
            <a:pPr algn="ctr">
              <a:lnSpc>
                <a:spcPts val="7132"/>
              </a:lnSpc>
              <a:spcBef>
                <a:spcPct val="0"/>
              </a:spcBef>
            </a:pPr>
            <a:r>
              <a:rPr lang="en-US" sz="5094">
                <a:solidFill>
                  <a:srgbClr val="FF3131"/>
                </a:solidFill>
                <a:latin typeface="Arcade Gamer"/>
                <a:ea typeface="Arcade Gamer"/>
                <a:cs typeface="Arcade Gamer"/>
                <a:sym typeface="Arcade Gamer"/>
              </a:rPr>
              <a:t>REFLEXIÓN GRUPAL</a:t>
            </a:r>
          </a:p>
        </p:txBody>
      </p:sp>
      <p:sp>
        <p:nvSpPr>
          <p:cNvPr id="9" name="TextBox 9"/>
          <p:cNvSpPr txBox="1"/>
          <p:nvPr/>
        </p:nvSpPr>
        <p:spPr>
          <a:xfrm>
            <a:off x="1169331" y="1430249"/>
            <a:ext cx="16106167" cy="7160230"/>
          </a:xfrm>
          <a:prstGeom prst="rect">
            <a:avLst/>
          </a:prstGeom>
        </p:spPr>
        <p:txBody>
          <a:bodyPr lIns="0" tIns="0" rIns="0" bIns="0" rtlCol="0" anchor="t">
            <a:spAutoFit/>
          </a:bodyPr>
          <a:lstStyle/>
          <a:p>
            <a:pPr algn="ctr">
              <a:lnSpc>
                <a:spcPts val="3816"/>
              </a:lnSpc>
            </a:pPr>
            <a:r>
              <a:rPr lang="en-US" sz="2726">
                <a:solidFill>
                  <a:srgbClr val="FFFFFF"/>
                </a:solidFill>
                <a:latin typeface="Arcade Gamer"/>
                <a:ea typeface="Arcade Gamer"/>
                <a:cs typeface="Arcade Gamer"/>
                <a:sym typeface="Arcade Gamer"/>
              </a:rPr>
              <a:t>JUAN CARLOS:</a:t>
            </a:r>
          </a:p>
          <a:p>
            <a:pPr algn="just">
              <a:lnSpc>
                <a:spcPts val="3816"/>
              </a:lnSpc>
            </a:pPr>
            <a:r>
              <a:rPr lang="en-US" sz="2726">
                <a:solidFill>
                  <a:srgbClr val="FFFFFF"/>
                </a:solidFill>
                <a:latin typeface="Arcade Gamer"/>
                <a:ea typeface="Arcade Gamer"/>
                <a:cs typeface="Arcade Gamer"/>
                <a:sym typeface="Arcade Gamer"/>
              </a:rPr>
              <a:t>ESTE PROYECTO ME TRAJO BASTANTES NUEVAS EXPERIENCIAS. MÁS QUE APRENDIZAJE DE NUEVAS MECÁNICAS O DEMÁS MUCHO MUCHO DE APRENDIZAJE EN EQUIPO Y COORDINACIÓN. POR MÁS QUE YO QUISIERA ADELANTARME EN ALGO O HACER ALGO DE UNA MANERA QUE YO ENTENDIERA. SE ME RECORDÓ CONSTANTEMENTE QUE ESTÁBAMOS EN UN EQUIPO. QUE ÉRAMOS 3 PERSONAS LAS QUE TENÍAMOS QUE APORTAR Y MEJORAR IDEAS PARA CREAR EL MEJOR VIDEOJUEGO EN CONJUNTO QUE PUDIÉRAMOS. POR ESO SIENTO QUE LO QUE MÁS ME LLEVÓ DE APRENDIZAJE ES EL TRABAJO EN EQUIPO. </a:t>
            </a:r>
          </a:p>
          <a:p>
            <a:pPr algn="just">
              <a:lnSpc>
                <a:spcPts val="3816"/>
              </a:lnSpc>
            </a:pPr>
            <a:endParaRPr lang="en-US" sz="2726">
              <a:solidFill>
                <a:srgbClr val="FFFFFF"/>
              </a:solidFill>
              <a:latin typeface="Arcade Gamer"/>
              <a:ea typeface="Arcade Gamer"/>
              <a:cs typeface="Arcade Gamer"/>
              <a:sym typeface="Arcade Gamer"/>
            </a:endParaRPr>
          </a:p>
          <a:p>
            <a:pPr algn="just">
              <a:lnSpc>
                <a:spcPts val="3816"/>
              </a:lnSpc>
              <a:spcBef>
                <a:spcPct val="0"/>
              </a:spcBef>
            </a:pPr>
            <a:r>
              <a:rPr lang="en-US" sz="2726">
                <a:solidFill>
                  <a:srgbClr val="FFFFFF"/>
                </a:solidFill>
                <a:latin typeface="Arcade Gamer"/>
                <a:ea typeface="Arcade Gamer"/>
                <a:cs typeface="Arcade Gamer"/>
                <a:sym typeface="Arcade Gamer"/>
              </a:rPr>
              <a:t>Y EN CUESTIÓN DE REPARTICIONES, SIENTO QUE FUE LO QUE LOGRAMOS PODER UN MUY BUEN MANEJO YA QUE LOGRAMOS REPARTIRNOS MEJOR LAS TAREAS E ISSUES PARA PODER LLEVAR UN FLUJO MÁS ORDENADO Y BONITO.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7389066" y="1279483"/>
            <a:ext cx="3509868" cy="2670063"/>
          </a:xfrm>
          <a:custGeom>
            <a:avLst/>
            <a:gdLst/>
            <a:ahLst/>
            <a:cxnLst/>
            <a:rect l="l" t="t" r="r" b="b"/>
            <a:pathLst>
              <a:path w="3509868" h="2670063">
                <a:moveTo>
                  <a:pt x="0" y="0"/>
                </a:moveTo>
                <a:lnTo>
                  <a:pt x="3509868" y="0"/>
                </a:lnTo>
                <a:lnTo>
                  <a:pt x="3509868" y="2670063"/>
                </a:lnTo>
                <a:lnTo>
                  <a:pt x="0" y="2670063"/>
                </a:lnTo>
                <a:lnTo>
                  <a:pt x="0" y="0"/>
                </a:lnTo>
                <a:close/>
              </a:path>
            </a:pathLst>
          </a:custGeom>
          <a:blipFill>
            <a:blip r:embed="rId2"/>
            <a:stretch>
              <a:fillRect r="-7523"/>
            </a:stretch>
          </a:blipFill>
        </p:spPr>
        <p:txBody>
          <a:bodyPr/>
          <a:lstStyle/>
          <a:p>
            <a:endParaRPr lang="es-MX"/>
          </a:p>
        </p:txBody>
      </p:sp>
      <p:sp>
        <p:nvSpPr>
          <p:cNvPr id="3" name="TextBox 3"/>
          <p:cNvSpPr txBox="1"/>
          <p:nvPr/>
        </p:nvSpPr>
        <p:spPr>
          <a:xfrm>
            <a:off x="3389774" y="5523036"/>
            <a:ext cx="11508452" cy="2823827"/>
          </a:xfrm>
          <a:prstGeom prst="rect">
            <a:avLst/>
          </a:prstGeom>
        </p:spPr>
        <p:txBody>
          <a:bodyPr lIns="0" tIns="0" rIns="0" bIns="0" rtlCol="0" anchor="t">
            <a:spAutoFit/>
          </a:bodyPr>
          <a:lstStyle/>
          <a:p>
            <a:pPr algn="ctr">
              <a:lnSpc>
                <a:spcPts val="4480"/>
              </a:lnSpc>
            </a:pPr>
            <a:r>
              <a:rPr lang="en-US" sz="3200">
                <a:solidFill>
                  <a:srgbClr val="FF3131"/>
                </a:solidFill>
                <a:latin typeface="Arcade Gamer"/>
                <a:ea typeface="Arcade Gamer"/>
                <a:cs typeface="Arcade Gamer"/>
                <a:sym typeface="Arcade Gamer"/>
              </a:rPr>
              <a:t>Integrantes del equipo:</a:t>
            </a:r>
          </a:p>
          <a:p>
            <a:pPr algn="ctr">
              <a:lnSpc>
                <a:spcPts val="4480"/>
              </a:lnSpc>
            </a:pPr>
            <a:endParaRPr lang="en-US" sz="3200">
              <a:solidFill>
                <a:srgbClr val="FF3131"/>
              </a:solidFill>
              <a:latin typeface="Arcade Gamer"/>
              <a:ea typeface="Arcade Gamer"/>
              <a:cs typeface="Arcade Gamer"/>
              <a:sym typeface="Arcade Gamer"/>
            </a:endParaRPr>
          </a:p>
          <a:p>
            <a:pPr algn="ctr">
              <a:lnSpc>
                <a:spcPts val="4480"/>
              </a:lnSpc>
            </a:pPr>
            <a:r>
              <a:rPr lang="en-US" sz="3200">
                <a:solidFill>
                  <a:srgbClr val="FFFFFF"/>
                </a:solidFill>
                <a:latin typeface="Arcade Gamer"/>
                <a:ea typeface="Arcade Gamer"/>
                <a:cs typeface="Arcade Gamer"/>
                <a:sym typeface="Arcade Gamer"/>
              </a:rPr>
              <a:t>arantza Monique mercado moreno</a:t>
            </a:r>
          </a:p>
          <a:p>
            <a:pPr algn="ctr">
              <a:lnSpc>
                <a:spcPts val="4480"/>
              </a:lnSpc>
            </a:pPr>
            <a:r>
              <a:rPr lang="en-US" sz="3200">
                <a:solidFill>
                  <a:srgbClr val="FFFFFF"/>
                </a:solidFill>
                <a:latin typeface="Arcade Gamer"/>
                <a:ea typeface="Arcade Gamer"/>
                <a:cs typeface="Arcade Gamer"/>
                <a:sym typeface="Arcade Gamer"/>
              </a:rPr>
              <a:t>Juan Carlos Luz Gallardo</a:t>
            </a:r>
          </a:p>
          <a:p>
            <a:pPr algn="ctr">
              <a:lnSpc>
                <a:spcPts val="4480"/>
              </a:lnSpc>
              <a:spcBef>
                <a:spcPct val="0"/>
              </a:spcBef>
            </a:pPr>
            <a:r>
              <a:rPr lang="en-US" sz="3200">
                <a:solidFill>
                  <a:srgbClr val="FFFFFF"/>
                </a:solidFill>
                <a:latin typeface="Arcade Gamer"/>
                <a:ea typeface="Arcade Gamer"/>
                <a:cs typeface="Arcade Gamer"/>
                <a:sym typeface="Arcade Gamer"/>
              </a:rPr>
              <a:t>Julián Berges Navarrete</a:t>
            </a:r>
            <a:r>
              <a:rPr lang="en-US" sz="3200">
                <a:solidFill>
                  <a:srgbClr val="FF3131"/>
                </a:solidFill>
                <a:latin typeface="Arcade Gamer"/>
                <a:ea typeface="Arcade Gamer"/>
                <a:cs typeface="Arcade Gamer"/>
                <a:sym typeface="Arcade Gamer"/>
              </a:rPr>
              <a: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741</Words>
  <Application>Microsoft Office PowerPoint</Application>
  <PresentationFormat>Custom</PresentationFormat>
  <Paragraphs>60</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Retropix</vt:lpstr>
      <vt:lpstr>Arcade Gamer</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Juego final ERN</dc:title>
  <dc:creator>Arantza Monique</dc:creator>
  <cp:lastModifiedBy>Arantza Monique Mercado Moreno</cp:lastModifiedBy>
  <cp:revision>2</cp:revision>
  <dcterms:created xsi:type="dcterms:W3CDTF">2006-08-16T00:00:00Z</dcterms:created>
  <dcterms:modified xsi:type="dcterms:W3CDTF">2026-05-01T05:55:20Z</dcterms:modified>
  <dc:identifier>DAHINcEp5kM</dc:identifier>
</cp:coreProperties>
</file>